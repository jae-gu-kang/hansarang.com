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F6C66"/>
                </a:solidFill>
              </a:rPr>
              <a:t>HANSARANG CHURCH · BUILDING STUDY 03 · 개정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097280"/>
            <a:ext cx="114300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111111"/>
                </a:solidFill>
              </a:rPr>
              <a:t>한사랑교회 신축</a:t>
            </a:r>
          </a:p>
          <a:p>
            <a:pPr algn="l"/>
            <a:r>
              <a:rPr sz="5400" b="1">
                <a:solidFill>
                  <a:srgbClr val="111111"/>
                </a:solidFill>
              </a:rPr>
              <a:t>최종 기준안 F10 · 도면 모음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65760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4D00"/>
                </a:solidFill>
              </a:rPr>
              <a:t>1층 배치(주차 10대) · 남북 단면 · 기준층 평면 · 본당층 평면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0"/>
            <a:ext cx="114300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11111"/>
                </a:solidFill>
              </a:rPr>
              <a:t>이 파일의 도면은 그림이 아니라 PowerPoint 도형(사각형·선·다각형·텍스트)으로 이루어져 있습니다.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11111"/>
                </a:solidFill>
              </a:rPr>
              <a:t>모든 요소를 개별로 선택해 이동·크기 조정·색 변경·삭제할 수 있고, 텍스트는 직접 고쳐 쓸 수 있습니다.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11111"/>
                </a:solidFill>
              </a:rPr>
              <a:t>도형 이름은 [홈 › 정렬 › 선택 창]에서 “번호 + 종류(+ 텍스트 내용)”으로 확인할 수 있습니다 (예: 057 text: 장애인).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11111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11111"/>
                </a:solidFill>
              </a:rPr>
              <a:t>기준: 대지 348.78㎡(공시 340㎡) · 건폐율 60%(≈204㎡) · 용적률 266.2% · 주차 75㎡당 1대(10대 = 연면적 750㎡ 상한)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11111"/>
                </a:solidFill>
              </a:rPr>
              <a:t>기준안: 서측 진입 · 본관 북동 앵커 17.3×10.75m · 계단탑 남동 5.6×3.2m · EV 북동 밀착 2.4×4.45m · 설비 슬롯 0.5m · 층고 3.6m/본당 7.2m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11111"/>
                </a:solidFill>
              </a:rPr>
              <a:t>수치는 모두 내부 검토용 계획값입니다. 인허가·계약 용도로는 실측 성과와 건축사 확인이 필요합니다.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54964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6C66"/>
                </a:solidFill>
              </a:rPr>
              <a:t>원본: 건물외곽_검토.html (한사랑.com/building/) · 2026.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</a:rPr>
              <a:t>1층 배치 — F10.1 최종 기준안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6C66"/>
                </a:solidFill>
              </a:rPr>
              <a:t>필로티 주차 10대 · 본관 17.3×10.75m · 계단탑 · EV · 설비 슬롯 · 기둥 그리드 5.75/5.2/3.75m</a:t>
            </a:r>
          </a:p>
        </p:txBody>
      </p:sp>
      <p:sp>
        <p:nvSpPr>
          <p:cNvPr id="4" name="001 rect"/>
          <p:cNvSpPr/>
          <p:nvPr/>
        </p:nvSpPr>
        <p:spPr>
          <a:xfrm>
            <a:off x="2011446" y="1005840"/>
            <a:ext cx="2238412" cy="7548133"/>
          </a:xfrm>
          <a:prstGeom prst="rect">
            <a:avLst/>
          </a:prstGeom>
          <a:solidFill>
            <a:srgbClr val="ED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002 polygon"/>
          <p:cNvSpPr/>
          <p:nvPr/>
        </p:nvSpPr>
        <p:spPr>
          <a:xfrm>
            <a:off x="4226833" y="6190426"/>
            <a:ext cx="5957420" cy="2311491"/>
          </a:xfrm>
          <a:custGeom>
            <a:avLst/>
            <a:gdLst/>
            <a:ahLst/>
            <a:cxnLst/>
            <a:rect l="l" t="t" r="r" b="b"/>
            <a:pathLst>
              <a:path w="5957420" h="2311491">
                <a:moveTo>
                  <a:pt x="908979" y="309334"/>
                </a:moveTo>
                <a:lnTo>
                  <a:pt x="2165333" y="340367"/>
                </a:lnTo>
                <a:lnTo>
                  <a:pt x="4411754" y="233252"/>
                </a:lnTo>
                <a:lnTo>
                  <a:pt x="5406826" y="1002"/>
                </a:lnTo>
                <a:lnTo>
                  <a:pt x="5957420" y="0"/>
                </a:lnTo>
                <a:lnTo>
                  <a:pt x="5957420" y="2311491"/>
                </a:lnTo>
                <a:lnTo>
                  <a:pt x="0" y="2311491"/>
                </a:lnTo>
                <a:lnTo>
                  <a:pt x="0" y="310335"/>
                </a:lnTo>
                <a:close/>
              </a:path>
            </a:pathLst>
          </a:custGeom>
          <a:solidFill>
            <a:srgbClr val="ED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003 polygon"/>
          <p:cNvSpPr/>
          <p:nvPr/>
        </p:nvSpPr>
        <p:spPr>
          <a:xfrm>
            <a:off x="2011446" y="6500761"/>
            <a:ext cx="2215387" cy="2001156"/>
          </a:xfrm>
          <a:custGeom>
            <a:avLst/>
            <a:gdLst/>
            <a:ahLst/>
            <a:cxnLst/>
            <a:rect l="l" t="t" r="r" b="b"/>
            <a:pathLst>
              <a:path w="2215387" h="2001156">
                <a:moveTo>
                  <a:pt x="0" y="2001156"/>
                </a:moveTo>
                <a:lnTo>
                  <a:pt x="2215387" y="2001156"/>
                </a:lnTo>
                <a:lnTo>
                  <a:pt x="2215387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004 line"/>
          <p:cNvCxnSpPr/>
          <p:nvPr/>
        </p:nvCxnSpPr>
        <p:spPr>
          <a:xfrm>
            <a:off x="2271726" y="6211449"/>
            <a:ext cx="1743879" cy="0"/>
          </a:xfrm>
          <a:prstGeom prst="line">
            <a:avLst/>
          </a:prstGeom>
          <a:ln w="45048">
            <a:solidFill>
              <a:srgbClr val="C8331F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005 line"/>
          <p:cNvCxnSpPr/>
          <p:nvPr/>
        </p:nvCxnSpPr>
        <p:spPr>
          <a:xfrm>
            <a:off x="2271726" y="6354603"/>
            <a:ext cx="1743879" cy="0"/>
          </a:xfrm>
          <a:prstGeom prst="line">
            <a:avLst/>
          </a:prstGeom>
          <a:ln w="45048">
            <a:solidFill>
              <a:srgbClr val="C8331F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006 line"/>
          <p:cNvCxnSpPr/>
          <p:nvPr/>
        </p:nvCxnSpPr>
        <p:spPr>
          <a:xfrm>
            <a:off x="2271726" y="6497758"/>
            <a:ext cx="1743879" cy="0"/>
          </a:xfrm>
          <a:prstGeom prst="line">
            <a:avLst/>
          </a:prstGeom>
          <a:ln w="45048">
            <a:solidFill>
              <a:srgbClr val="C8331F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007 line"/>
          <p:cNvCxnSpPr/>
          <p:nvPr/>
        </p:nvCxnSpPr>
        <p:spPr>
          <a:xfrm>
            <a:off x="2271726" y="6640912"/>
            <a:ext cx="1743879" cy="0"/>
          </a:xfrm>
          <a:prstGeom prst="line">
            <a:avLst/>
          </a:prstGeom>
          <a:ln w="45048">
            <a:solidFill>
              <a:srgbClr val="C8331F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008 line"/>
          <p:cNvCxnSpPr/>
          <p:nvPr/>
        </p:nvCxnSpPr>
        <p:spPr>
          <a:xfrm>
            <a:off x="2271726" y="6784066"/>
            <a:ext cx="1743879" cy="0"/>
          </a:xfrm>
          <a:prstGeom prst="line">
            <a:avLst/>
          </a:prstGeom>
          <a:ln w="45048">
            <a:solidFill>
              <a:srgbClr val="C8331F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009 line"/>
          <p:cNvCxnSpPr/>
          <p:nvPr/>
        </p:nvCxnSpPr>
        <p:spPr>
          <a:xfrm>
            <a:off x="2271726" y="6927220"/>
            <a:ext cx="1743879" cy="0"/>
          </a:xfrm>
          <a:prstGeom prst="line">
            <a:avLst/>
          </a:prstGeom>
          <a:ln w="45048">
            <a:solidFill>
              <a:srgbClr val="C8331F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010 line"/>
          <p:cNvCxnSpPr/>
          <p:nvPr/>
        </p:nvCxnSpPr>
        <p:spPr>
          <a:xfrm>
            <a:off x="4093689" y="6836122"/>
            <a:ext cx="0" cy="1509627"/>
          </a:xfrm>
          <a:prstGeom prst="line">
            <a:avLst/>
          </a:prstGeom>
          <a:ln w="45048">
            <a:solidFill>
              <a:srgbClr val="1F6F9E">
                <a:alpha val="4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011 line"/>
          <p:cNvCxnSpPr/>
          <p:nvPr/>
        </p:nvCxnSpPr>
        <p:spPr>
          <a:xfrm>
            <a:off x="4236844" y="6836122"/>
            <a:ext cx="0" cy="1509627"/>
          </a:xfrm>
          <a:prstGeom prst="line">
            <a:avLst/>
          </a:prstGeom>
          <a:ln w="45048">
            <a:solidFill>
              <a:srgbClr val="1F6F9E">
                <a:alpha val="4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012 line"/>
          <p:cNvCxnSpPr/>
          <p:nvPr/>
        </p:nvCxnSpPr>
        <p:spPr>
          <a:xfrm>
            <a:off x="4379998" y="6836122"/>
            <a:ext cx="0" cy="1509627"/>
          </a:xfrm>
          <a:prstGeom prst="line">
            <a:avLst/>
          </a:prstGeom>
          <a:ln w="45048">
            <a:solidFill>
              <a:srgbClr val="1F6F9E">
                <a:alpha val="4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013 line"/>
          <p:cNvCxnSpPr/>
          <p:nvPr/>
        </p:nvCxnSpPr>
        <p:spPr>
          <a:xfrm>
            <a:off x="4523152" y="6836122"/>
            <a:ext cx="0" cy="1509627"/>
          </a:xfrm>
          <a:prstGeom prst="line">
            <a:avLst/>
          </a:prstGeom>
          <a:ln w="45048">
            <a:solidFill>
              <a:srgbClr val="1F6F9E">
                <a:alpha val="4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014 line"/>
          <p:cNvCxnSpPr/>
          <p:nvPr/>
        </p:nvCxnSpPr>
        <p:spPr>
          <a:xfrm>
            <a:off x="4666307" y="6836122"/>
            <a:ext cx="0" cy="1509627"/>
          </a:xfrm>
          <a:prstGeom prst="line">
            <a:avLst/>
          </a:prstGeom>
          <a:ln w="45048">
            <a:solidFill>
              <a:srgbClr val="1F6F9E">
                <a:alpha val="4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015 line"/>
          <p:cNvCxnSpPr/>
          <p:nvPr/>
        </p:nvCxnSpPr>
        <p:spPr>
          <a:xfrm>
            <a:off x="4809461" y="6836122"/>
            <a:ext cx="0" cy="1509627"/>
          </a:xfrm>
          <a:prstGeom prst="line">
            <a:avLst/>
          </a:prstGeom>
          <a:ln w="45048">
            <a:solidFill>
              <a:srgbClr val="1F6F9E">
                <a:alpha val="4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016 line"/>
          <p:cNvCxnSpPr/>
          <p:nvPr/>
        </p:nvCxnSpPr>
        <p:spPr>
          <a:xfrm>
            <a:off x="4952615" y="6836122"/>
            <a:ext cx="0" cy="1509627"/>
          </a:xfrm>
          <a:prstGeom prst="line">
            <a:avLst/>
          </a:prstGeom>
          <a:ln w="45048">
            <a:solidFill>
              <a:srgbClr val="1F6F9E">
                <a:alpha val="4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017 polygon"/>
          <p:cNvSpPr/>
          <p:nvPr/>
        </p:nvSpPr>
        <p:spPr>
          <a:xfrm>
            <a:off x="4226833" y="1994905"/>
            <a:ext cx="5406826" cy="4535888"/>
          </a:xfrm>
          <a:custGeom>
            <a:avLst/>
            <a:gdLst/>
            <a:ahLst/>
            <a:cxnLst/>
            <a:rect l="l" t="t" r="r" b="b"/>
            <a:pathLst>
              <a:path w="5406826" h="4535888">
                <a:moveTo>
                  <a:pt x="23025" y="0"/>
                </a:moveTo>
                <a:lnTo>
                  <a:pt x="5386805" y="0"/>
                </a:lnTo>
                <a:lnTo>
                  <a:pt x="5406826" y="4196523"/>
                </a:lnTo>
                <a:lnTo>
                  <a:pt x="4411754" y="4428773"/>
                </a:lnTo>
                <a:lnTo>
                  <a:pt x="2165333" y="4535888"/>
                </a:lnTo>
                <a:lnTo>
                  <a:pt x="908979" y="4504855"/>
                </a:lnTo>
                <a:lnTo>
                  <a:pt x="0" y="3573852"/>
                </a:lnTo>
                <a:close/>
              </a:path>
            </a:pathLst>
          </a:custGeom>
          <a:solidFill>
            <a:srgbClr val="FF4D00">
              <a:alpha val="4705"/>
            </a:srgbClr>
          </a:solidFill>
          <a:ln w="23425">
            <a:solidFill>
              <a:srgbClr val="E04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018 text: 북측 — 공용 주차장 부지"/>
          <p:cNvSpPr txBox="1"/>
          <p:nvPr/>
        </p:nvSpPr>
        <p:spPr>
          <a:xfrm>
            <a:off x="6314433" y="1271125"/>
            <a:ext cx="1232628" cy="1376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67" b="0">
                <a:solidFill>
                  <a:srgbClr val="61666D"/>
                </a:solidFill>
              </a:rPr>
              <a:t>북측 — 공용 주차장 부지</a:t>
            </a:r>
          </a:p>
        </p:txBody>
      </p:sp>
      <p:sp>
        <p:nvSpPr>
          <p:cNvPr id="22" name="019 text: 소로 2-28 · 폭 11.7m"/>
          <p:cNvSpPr txBox="1"/>
          <p:nvPr/>
        </p:nvSpPr>
        <p:spPr>
          <a:xfrm>
            <a:off x="2623105" y="1540416"/>
            <a:ext cx="1015093" cy="125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88" b="0">
                <a:solidFill>
                  <a:srgbClr val="A86400"/>
                </a:solidFill>
              </a:rPr>
              <a:t>소로 2-28 · 폭 11.7m</a:t>
            </a:r>
          </a:p>
        </p:txBody>
      </p:sp>
      <p:sp>
        <p:nvSpPr>
          <p:cNvPr id="23" name="020 text: 남측 계획도로 — 폭 20.0m"/>
          <p:cNvSpPr txBox="1"/>
          <p:nvPr/>
        </p:nvSpPr>
        <p:spPr>
          <a:xfrm>
            <a:off x="7107137" y="8038418"/>
            <a:ext cx="1313014" cy="1376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67" b="0">
                <a:solidFill>
                  <a:srgbClr val="A86400"/>
                </a:solidFill>
              </a:rPr>
              <a:t>남측 계획도로 — 폭 20.0m</a:t>
            </a:r>
          </a:p>
        </p:txBody>
      </p:sp>
      <p:sp>
        <p:nvSpPr>
          <p:cNvPr id="24" name="021 text: 능곡타운센터 획지"/>
          <p:cNvSpPr txBox="1"/>
          <p:nvPr/>
        </p:nvSpPr>
        <p:spPr>
          <a:xfrm rot="5400000">
            <a:off x="9609834" y="4141594"/>
            <a:ext cx="914585" cy="1313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27" b="0">
                <a:solidFill>
                  <a:srgbClr val="61666D"/>
                </a:solidFill>
              </a:rPr>
              <a:t>능곡타운센터 획지</a:t>
            </a:r>
          </a:p>
        </p:txBody>
      </p:sp>
      <p:sp>
        <p:nvSpPr>
          <p:cNvPr id="25" name="022 circle"/>
          <p:cNvSpPr/>
          <p:nvPr/>
        </p:nvSpPr>
        <p:spPr>
          <a:xfrm>
            <a:off x="4223830" y="1968877"/>
            <a:ext cx="52056" cy="52056"/>
          </a:xfrm>
          <a:prstGeom prst="ellipse">
            <a:avLst/>
          </a:prstGeom>
          <a:solidFill>
            <a:srgbClr val="E04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023 text: P0"/>
          <p:cNvSpPr txBox="1"/>
          <p:nvPr/>
        </p:nvSpPr>
        <p:spPr>
          <a:xfrm>
            <a:off x="4027718" y="1805201"/>
            <a:ext cx="157970" cy="1188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48" b="1">
                <a:solidFill>
                  <a:srgbClr val="E04300"/>
                </a:solidFill>
              </a:rPr>
              <a:t>P0</a:t>
            </a:r>
          </a:p>
        </p:txBody>
      </p:sp>
      <p:sp>
        <p:nvSpPr>
          <p:cNvPr id="27" name="024 circle"/>
          <p:cNvSpPr/>
          <p:nvPr/>
        </p:nvSpPr>
        <p:spPr>
          <a:xfrm>
            <a:off x="9587610" y="1968877"/>
            <a:ext cx="52056" cy="52056"/>
          </a:xfrm>
          <a:prstGeom prst="ellipse">
            <a:avLst/>
          </a:prstGeom>
          <a:solidFill>
            <a:srgbClr val="E04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025 text: P1"/>
          <p:cNvSpPr txBox="1"/>
          <p:nvPr/>
        </p:nvSpPr>
        <p:spPr>
          <a:xfrm>
            <a:off x="9729863" y="1805201"/>
            <a:ext cx="157970" cy="1188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48" b="1">
                <a:solidFill>
                  <a:srgbClr val="E04300"/>
                </a:solidFill>
              </a:rPr>
              <a:t>P1</a:t>
            </a:r>
          </a:p>
        </p:txBody>
      </p:sp>
      <p:sp>
        <p:nvSpPr>
          <p:cNvPr id="29" name="026 circle"/>
          <p:cNvSpPr/>
          <p:nvPr/>
        </p:nvSpPr>
        <p:spPr>
          <a:xfrm>
            <a:off x="9607631" y="6165399"/>
            <a:ext cx="52056" cy="52056"/>
          </a:xfrm>
          <a:prstGeom prst="ellipse">
            <a:avLst/>
          </a:prstGeom>
          <a:solidFill>
            <a:srgbClr val="E04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027 text: P2"/>
          <p:cNvSpPr txBox="1"/>
          <p:nvPr/>
        </p:nvSpPr>
        <p:spPr>
          <a:xfrm>
            <a:off x="9749885" y="6327074"/>
            <a:ext cx="157970" cy="1188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48" b="1">
                <a:solidFill>
                  <a:srgbClr val="E04300"/>
                </a:solidFill>
              </a:rPr>
              <a:t>P2</a:t>
            </a:r>
          </a:p>
        </p:txBody>
      </p:sp>
      <p:sp>
        <p:nvSpPr>
          <p:cNvPr id="31" name="028 circle"/>
          <p:cNvSpPr/>
          <p:nvPr/>
        </p:nvSpPr>
        <p:spPr>
          <a:xfrm>
            <a:off x="5109784" y="6473732"/>
            <a:ext cx="52056" cy="52056"/>
          </a:xfrm>
          <a:prstGeom prst="ellipse">
            <a:avLst/>
          </a:prstGeom>
          <a:solidFill>
            <a:srgbClr val="E04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029 text: P5"/>
          <p:cNvSpPr txBox="1"/>
          <p:nvPr/>
        </p:nvSpPr>
        <p:spPr>
          <a:xfrm>
            <a:off x="5252038" y="6635406"/>
            <a:ext cx="157970" cy="1188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48" b="1">
                <a:solidFill>
                  <a:srgbClr val="E04300"/>
                </a:solidFill>
              </a:rPr>
              <a:t>P5</a:t>
            </a:r>
          </a:p>
        </p:txBody>
      </p:sp>
      <p:sp>
        <p:nvSpPr>
          <p:cNvPr id="33" name="030 circle"/>
          <p:cNvSpPr/>
          <p:nvPr/>
        </p:nvSpPr>
        <p:spPr>
          <a:xfrm>
            <a:off x="4200805" y="5542728"/>
            <a:ext cx="52056" cy="52056"/>
          </a:xfrm>
          <a:prstGeom prst="ellipse">
            <a:avLst/>
          </a:prstGeom>
          <a:solidFill>
            <a:srgbClr val="E04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031 text: P6"/>
          <p:cNvSpPr txBox="1"/>
          <p:nvPr/>
        </p:nvSpPr>
        <p:spPr>
          <a:xfrm>
            <a:off x="4004694" y="5704403"/>
            <a:ext cx="157970" cy="1188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48" b="1">
                <a:solidFill>
                  <a:srgbClr val="E04300"/>
                </a:solidFill>
              </a:rPr>
              <a:t>P6</a:t>
            </a:r>
          </a:p>
        </p:txBody>
      </p:sp>
      <p:cxnSp>
        <p:nvCxnSpPr>
          <p:cNvPr id="35" name="032 line"/>
          <p:cNvCxnSpPr/>
          <p:nvPr/>
        </p:nvCxnSpPr>
        <p:spPr>
          <a:xfrm flipH="1" flipV="1">
            <a:off x="9620645" y="988821"/>
            <a:ext cx="138149" cy="502542"/>
          </a:xfrm>
          <a:prstGeom prst="line">
            <a:avLst/>
          </a:prstGeom>
          <a:ln w="1801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033 polygon"/>
          <p:cNvSpPr/>
          <p:nvPr/>
        </p:nvSpPr>
        <p:spPr>
          <a:xfrm>
            <a:off x="9584607" y="988821"/>
            <a:ext cx="140151" cy="145157"/>
          </a:xfrm>
          <a:custGeom>
            <a:avLst/>
            <a:gdLst/>
            <a:ahLst/>
            <a:cxnLst/>
            <a:rect l="l" t="t" r="r" b="b"/>
            <a:pathLst>
              <a:path w="140151" h="145157">
                <a:moveTo>
                  <a:pt x="36038" y="0"/>
                </a:moveTo>
                <a:lnTo>
                  <a:pt x="0" y="145157"/>
                </a:lnTo>
                <a:lnTo>
                  <a:pt x="140151" y="106115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034 text: N"/>
          <p:cNvSpPr txBox="1"/>
          <p:nvPr/>
        </p:nvSpPr>
        <p:spPr>
          <a:xfrm>
            <a:off x="9654582" y="791609"/>
            <a:ext cx="110118" cy="1376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67" b="1">
                <a:solidFill>
                  <a:srgbClr val="111111"/>
                </a:solidFill>
              </a:rPr>
              <a:t>N</a:t>
            </a:r>
          </a:p>
        </p:txBody>
      </p:sp>
      <p:cxnSp>
        <p:nvCxnSpPr>
          <p:cNvPr id="38" name="035 line"/>
          <p:cNvCxnSpPr/>
          <p:nvPr/>
        </p:nvCxnSpPr>
        <p:spPr>
          <a:xfrm>
            <a:off x="4249858" y="7356683"/>
            <a:ext cx="1301402" cy="0"/>
          </a:xfrm>
          <a:prstGeom prst="line">
            <a:avLst/>
          </a:prstGeom>
          <a:ln w="1801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036 line"/>
          <p:cNvCxnSpPr/>
          <p:nvPr/>
        </p:nvCxnSpPr>
        <p:spPr>
          <a:xfrm>
            <a:off x="4249858" y="7291613"/>
            <a:ext cx="0" cy="130140"/>
          </a:xfrm>
          <a:prstGeom prst="line">
            <a:avLst/>
          </a:prstGeom>
          <a:ln w="1801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037 line"/>
          <p:cNvCxnSpPr/>
          <p:nvPr/>
        </p:nvCxnSpPr>
        <p:spPr>
          <a:xfrm>
            <a:off x="5551260" y="7291613"/>
            <a:ext cx="0" cy="130140"/>
          </a:xfrm>
          <a:prstGeom prst="line">
            <a:avLst/>
          </a:prstGeom>
          <a:ln w="1801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038 text: 5 m"/>
          <p:cNvSpPr txBox="1"/>
          <p:nvPr/>
        </p:nvSpPr>
        <p:spPr>
          <a:xfrm>
            <a:off x="4805957" y="7526867"/>
            <a:ext cx="189203" cy="125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88" b="0">
                <a:solidFill>
                  <a:srgbClr val="111111"/>
                </a:solidFill>
              </a:rPr>
              <a:t>5 m</a:t>
            </a:r>
          </a:p>
        </p:txBody>
      </p:sp>
      <p:sp>
        <p:nvSpPr>
          <p:cNvPr id="42" name="039 rect"/>
          <p:cNvSpPr/>
          <p:nvPr/>
        </p:nvSpPr>
        <p:spPr>
          <a:xfrm>
            <a:off x="4249858" y="3426448"/>
            <a:ext cx="5231637" cy="1561682"/>
          </a:xfrm>
          <a:prstGeom prst="rect">
            <a:avLst/>
          </a:prstGeom>
          <a:solidFill>
            <a:srgbClr val="F6F4EE"/>
          </a:solidFill>
          <a:ln w="9009">
            <a:solidFill>
              <a:srgbClr val="C9C5B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040 line"/>
          <p:cNvCxnSpPr/>
          <p:nvPr/>
        </p:nvCxnSpPr>
        <p:spPr>
          <a:xfrm>
            <a:off x="4458082" y="4207289"/>
            <a:ext cx="4815189" cy="0"/>
          </a:xfrm>
          <a:prstGeom prst="line">
            <a:avLst/>
          </a:prstGeom>
          <a:ln w="12613">
            <a:solidFill>
              <a:srgbClr val="9A95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042 text: 차로 6.0 m — 건물 하부 통과 (필로티"/>
          <p:cNvSpPr txBox="1"/>
          <p:nvPr/>
        </p:nvSpPr>
        <p:spPr>
          <a:xfrm>
            <a:off x="5234569" y="4451052"/>
            <a:ext cx="1778616" cy="1313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27" b="1">
                <a:solidFill>
                  <a:srgbClr val="61666D"/>
                </a:solidFill>
              </a:rPr>
              <a:t>차로 6.0 m — 건물 하부 통과 (필로티)</a:t>
            </a:r>
          </a:p>
        </p:txBody>
      </p:sp>
      <p:cxnSp>
        <p:nvCxnSpPr>
          <p:cNvPr id="45" name="043 line"/>
          <p:cNvCxnSpPr/>
          <p:nvPr/>
        </p:nvCxnSpPr>
        <p:spPr>
          <a:xfrm>
            <a:off x="4249858" y="3478504"/>
            <a:ext cx="0" cy="1171262"/>
          </a:xfrm>
          <a:prstGeom prst="line">
            <a:avLst/>
          </a:prstGeom>
          <a:ln w="54058">
            <a:solidFill>
              <a:srgbClr val="F4F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044 line"/>
          <p:cNvCxnSpPr/>
          <p:nvPr/>
        </p:nvCxnSpPr>
        <p:spPr>
          <a:xfrm>
            <a:off x="4249858" y="3478504"/>
            <a:ext cx="0" cy="1171262"/>
          </a:xfrm>
          <a:prstGeom prst="line">
            <a:avLst/>
          </a:prstGeom>
          <a:ln w="18019">
            <a:solidFill>
              <a:srgbClr val="E043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045 arrow"/>
          <p:cNvCxnSpPr/>
          <p:nvPr/>
        </p:nvCxnSpPr>
        <p:spPr>
          <a:xfrm>
            <a:off x="3130652" y="4064135"/>
            <a:ext cx="1535655" cy="0"/>
          </a:xfrm>
          <a:prstGeom prst="line">
            <a:avLst/>
          </a:prstGeom>
          <a:ln w="28831">
            <a:solidFill>
              <a:srgbClr val="E043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046 text: 출입구 ≥3.5m"/>
          <p:cNvSpPr txBox="1"/>
          <p:nvPr/>
        </p:nvSpPr>
        <p:spPr>
          <a:xfrm>
            <a:off x="2874426" y="3696239"/>
            <a:ext cx="668620" cy="1313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27" b="1">
                <a:solidFill>
                  <a:srgbClr val="E04300"/>
                </a:solidFill>
              </a:rPr>
              <a:t>출입구 ≥3.5m</a:t>
            </a:r>
          </a:p>
        </p:txBody>
      </p:sp>
      <p:sp>
        <p:nvSpPr>
          <p:cNvPr id="49" name="047 rect"/>
          <p:cNvSpPr/>
          <p:nvPr/>
        </p:nvSpPr>
        <p:spPr>
          <a:xfrm>
            <a:off x="4327942" y="2125046"/>
            <a:ext cx="650701" cy="1301402"/>
          </a:xfrm>
          <a:prstGeom prst="rect">
            <a:avLst/>
          </a:prstGeom>
          <a:solidFill>
            <a:srgbClr val="FFFFFF"/>
          </a:solidFill>
          <a:ln w="12613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048 text: 2.5"/>
          <p:cNvSpPr txBox="1"/>
          <p:nvPr/>
        </p:nvSpPr>
        <p:spPr>
          <a:xfrm>
            <a:off x="4562995" y="2291225"/>
            <a:ext cx="180594" cy="1126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9" b="0">
                <a:solidFill>
                  <a:srgbClr val="61666D"/>
                </a:solidFill>
              </a:rPr>
              <a:t>2.5</a:t>
            </a:r>
          </a:p>
        </p:txBody>
      </p:sp>
      <p:sp>
        <p:nvSpPr>
          <p:cNvPr id="51" name="049 text: 2.5"/>
          <p:cNvSpPr txBox="1"/>
          <p:nvPr/>
        </p:nvSpPr>
        <p:spPr>
          <a:xfrm>
            <a:off x="4562995" y="3215220"/>
            <a:ext cx="180594" cy="1126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9" b="0">
                <a:solidFill>
                  <a:srgbClr val="9A958A"/>
                </a:solidFill>
              </a:rPr>
              <a:t>2.5</a:t>
            </a:r>
          </a:p>
        </p:txBody>
      </p:sp>
      <p:sp>
        <p:nvSpPr>
          <p:cNvPr id="52" name="050 text: 노천 1"/>
          <p:cNvSpPr txBox="1"/>
          <p:nvPr/>
        </p:nvSpPr>
        <p:spPr>
          <a:xfrm>
            <a:off x="4493470" y="1714103"/>
            <a:ext cx="319644" cy="1188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48" b="1">
                <a:solidFill>
                  <a:srgbClr val="2C7A4B"/>
                </a:solidFill>
              </a:rPr>
              <a:t>노천 1</a:t>
            </a:r>
          </a:p>
        </p:txBody>
      </p:sp>
      <p:sp>
        <p:nvSpPr>
          <p:cNvPr id="53" name="051 rect"/>
          <p:cNvSpPr/>
          <p:nvPr/>
        </p:nvSpPr>
        <p:spPr>
          <a:xfrm>
            <a:off x="5160839" y="2072989"/>
            <a:ext cx="676729" cy="1353458"/>
          </a:xfrm>
          <a:prstGeom prst="rect">
            <a:avLst/>
          </a:prstGeom>
          <a:solidFill>
            <a:srgbClr val="FF4D00">
              <a:alpha val="9411"/>
            </a:srgbClr>
          </a:solidFill>
          <a:ln w="12613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052 text: 확장"/>
          <p:cNvSpPr txBox="1"/>
          <p:nvPr/>
        </p:nvSpPr>
        <p:spPr>
          <a:xfrm>
            <a:off x="5389085" y="2239169"/>
            <a:ext cx="220237" cy="1126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9" b="0">
                <a:solidFill>
                  <a:srgbClr val="61666D"/>
                </a:solidFill>
              </a:rPr>
              <a:t>확장</a:t>
            </a:r>
          </a:p>
        </p:txBody>
      </p:sp>
      <p:sp>
        <p:nvSpPr>
          <p:cNvPr id="55" name="053 text: 2.6"/>
          <p:cNvSpPr txBox="1"/>
          <p:nvPr/>
        </p:nvSpPr>
        <p:spPr>
          <a:xfrm>
            <a:off x="5408907" y="3215220"/>
            <a:ext cx="180594" cy="1126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9" b="0">
                <a:solidFill>
                  <a:srgbClr val="9A958A"/>
                </a:solidFill>
              </a:rPr>
              <a:t>2.6</a:t>
            </a:r>
          </a:p>
        </p:txBody>
      </p:sp>
      <p:sp>
        <p:nvSpPr>
          <p:cNvPr id="56" name="054 rect"/>
          <p:cNvSpPr/>
          <p:nvPr/>
        </p:nvSpPr>
        <p:spPr>
          <a:xfrm>
            <a:off x="5824555" y="2125046"/>
            <a:ext cx="650701" cy="1301402"/>
          </a:xfrm>
          <a:prstGeom prst="rect">
            <a:avLst/>
          </a:prstGeom>
          <a:solidFill>
            <a:srgbClr val="FFFFFF"/>
          </a:solidFill>
          <a:ln w="12613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055 text: 2.5"/>
          <p:cNvSpPr txBox="1"/>
          <p:nvPr/>
        </p:nvSpPr>
        <p:spPr>
          <a:xfrm>
            <a:off x="6059608" y="2291225"/>
            <a:ext cx="180594" cy="1126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9" b="0">
                <a:solidFill>
                  <a:srgbClr val="61666D"/>
                </a:solidFill>
              </a:rPr>
              <a:t>2.5</a:t>
            </a:r>
          </a:p>
        </p:txBody>
      </p:sp>
      <p:sp>
        <p:nvSpPr>
          <p:cNvPr id="58" name="056 text: 2.5"/>
          <p:cNvSpPr txBox="1"/>
          <p:nvPr/>
        </p:nvSpPr>
        <p:spPr>
          <a:xfrm>
            <a:off x="6059608" y="3215220"/>
            <a:ext cx="180594" cy="1126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9" b="0">
                <a:solidFill>
                  <a:srgbClr val="9A958A"/>
                </a:solidFill>
              </a:rPr>
              <a:t>2.5</a:t>
            </a:r>
          </a:p>
        </p:txBody>
      </p:sp>
      <p:sp>
        <p:nvSpPr>
          <p:cNvPr id="59" name="057 text: 확장 1 + 일반 1"/>
          <p:cNvSpPr txBox="1"/>
          <p:nvPr/>
        </p:nvSpPr>
        <p:spPr>
          <a:xfrm>
            <a:off x="5450652" y="1709598"/>
            <a:ext cx="747805" cy="125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88" b="1">
                <a:solidFill>
                  <a:srgbClr val="111111"/>
                </a:solidFill>
              </a:rPr>
              <a:t>확장 1 + 일반 1</a:t>
            </a:r>
          </a:p>
        </p:txBody>
      </p:sp>
      <p:sp>
        <p:nvSpPr>
          <p:cNvPr id="60" name="058 rect"/>
          <p:cNvSpPr/>
          <p:nvPr/>
        </p:nvSpPr>
        <p:spPr>
          <a:xfrm>
            <a:off x="6644438" y="2072989"/>
            <a:ext cx="676729" cy="1353458"/>
          </a:xfrm>
          <a:prstGeom prst="rect">
            <a:avLst/>
          </a:prstGeom>
          <a:solidFill>
            <a:srgbClr val="FF4D00">
              <a:alpha val="9411"/>
            </a:srgbClr>
          </a:solidFill>
          <a:ln w="12613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059 text: 확장"/>
          <p:cNvSpPr txBox="1"/>
          <p:nvPr/>
        </p:nvSpPr>
        <p:spPr>
          <a:xfrm>
            <a:off x="6872684" y="2239169"/>
            <a:ext cx="220237" cy="1126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9" b="0">
                <a:solidFill>
                  <a:srgbClr val="61666D"/>
                </a:solidFill>
              </a:rPr>
              <a:t>확장</a:t>
            </a:r>
          </a:p>
        </p:txBody>
      </p:sp>
      <p:sp>
        <p:nvSpPr>
          <p:cNvPr id="62" name="060 text: 2.6"/>
          <p:cNvSpPr txBox="1"/>
          <p:nvPr/>
        </p:nvSpPr>
        <p:spPr>
          <a:xfrm>
            <a:off x="6892505" y="3215220"/>
            <a:ext cx="180594" cy="1126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9" b="0">
                <a:solidFill>
                  <a:srgbClr val="9A958A"/>
                </a:solidFill>
              </a:rPr>
              <a:t>2.6</a:t>
            </a:r>
          </a:p>
        </p:txBody>
      </p:sp>
      <p:sp>
        <p:nvSpPr>
          <p:cNvPr id="63" name="061 rect"/>
          <p:cNvSpPr/>
          <p:nvPr/>
        </p:nvSpPr>
        <p:spPr>
          <a:xfrm>
            <a:off x="7321167" y="2489438"/>
            <a:ext cx="520560" cy="937009"/>
          </a:xfrm>
          <a:prstGeom prst="rect">
            <a:avLst/>
          </a:prstGeom>
          <a:solidFill>
            <a:srgbClr val="2C7A4B">
              <a:alpha val="12156"/>
            </a:srgbClr>
          </a:solidFill>
          <a:ln w="14415">
            <a:solidFill>
              <a:srgbClr val="2C7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062 text: 경차"/>
          <p:cNvSpPr txBox="1"/>
          <p:nvPr/>
        </p:nvSpPr>
        <p:spPr>
          <a:xfrm>
            <a:off x="7471329" y="2655617"/>
            <a:ext cx="220237" cy="1126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9" b="0">
                <a:solidFill>
                  <a:srgbClr val="61666D"/>
                </a:solidFill>
              </a:rPr>
              <a:t>경차</a:t>
            </a:r>
          </a:p>
        </p:txBody>
      </p:sp>
      <p:sp>
        <p:nvSpPr>
          <p:cNvPr id="65" name="063 text: 2.0"/>
          <p:cNvSpPr txBox="1"/>
          <p:nvPr/>
        </p:nvSpPr>
        <p:spPr>
          <a:xfrm>
            <a:off x="7491151" y="3215220"/>
            <a:ext cx="180594" cy="1126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9" b="0">
                <a:solidFill>
                  <a:srgbClr val="9A958A"/>
                </a:solidFill>
              </a:rPr>
              <a:t>2.0</a:t>
            </a:r>
          </a:p>
        </p:txBody>
      </p:sp>
      <p:sp>
        <p:nvSpPr>
          <p:cNvPr id="66" name="064 rect"/>
          <p:cNvSpPr/>
          <p:nvPr/>
        </p:nvSpPr>
        <p:spPr>
          <a:xfrm>
            <a:off x="7997897" y="2125046"/>
            <a:ext cx="858925" cy="1301402"/>
          </a:xfrm>
          <a:prstGeom prst="rect">
            <a:avLst/>
          </a:prstGeom>
          <a:solidFill>
            <a:srgbClr val="1F6F9E">
              <a:alpha val="14901"/>
            </a:srgbClr>
          </a:solidFill>
          <a:ln w="14415">
            <a:solidFill>
              <a:srgbClr val="1F6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065 text: 장애인"/>
          <p:cNvSpPr txBox="1"/>
          <p:nvPr/>
        </p:nvSpPr>
        <p:spPr>
          <a:xfrm>
            <a:off x="8272192" y="2291225"/>
            <a:ext cx="310334" cy="1126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9" b="0">
                <a:solidFill>
                  <a:srgbClr val="61666D"/>
                </a:solidFill>
              </a:rPr>
              <a:t>장애인</a:t>
            </a:r>
          </a:p>
        </p:txBody>
      </p:sp>
      <p:sp>
        <p:nvSpPr>
          <p:cNvPr id="68" name="066 text: 3.3"/>
          <p:cNvSpPr txBox="1"/>
          <p:nvPr/>
        </p:nvSpPr>
        <p:spPr>
          <a:xfrm>
            <a:off x="8337062" y="3215220"/>
            <a:ext cx="180594" cy="1126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9" b="0">
                <a:solidFill>
                  <a:srgbClr val="9A958A"/>
                </a:solidFill>
              </a:rPr>
              <a:t>3.3</a:t>
            </a:r>
          </a:p>
        </p:txBody>
      </p:sp>
      <p:sp>
        <p:nvSpPr>
          <p:cNvPr id="69" name="067 text: 확장·경차 | 기둥 | 장애인 — EV벽 밀"/>
          <p:cNvSpPr txBox="1"/>
          <p:nvPr/>
        </p:nvSpPr>
        <p:spPr>
          <a:xfrm>
            <a:off x="6658954" y="1709598"/>
            <a:ext cx="1740875" cy="125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88" b="1">
                <a:solidFill>
                  <a:srgbClr val="1F6F9E"/>
                </a:solidFill>
              </a:rPr>
              <a:t>확장·경차 | 기둥 | 장애인 — EV벽 밀착</a:t>
            </a:r>
          </a:p>
        </p:txBody>
      </p:sp>
      <p:sp>
        <p:nvSpPr>
          <p:cNvPr id="70" name="068 text: 장애인 승하차 구역(1.2m) = EV홀 진"/>
          <p:cNvSpPr txBox="1"/>
          <p:nvPr/>
        </p:nvSpPr>
        <p:spPr>
          <a:xfrm>
            <a:off x="7486220" y="1436804"/>
            <a:ext cx="1882278" cy="10636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70" b="1">
                <a:solidFill>
                  <a:srgbClr val="1F7A45"/>
                </a:solidFill>
              </a:rPr>
              <a:t>장애인 승하차 구역(1.2m) = EV홀 진입 — 문 정렬</a:t>
            </a:r>
          </a:p>
        </p:txBody>
      </p:sp>
      <p:sp>
        <p:nvSpPr>
          <p:cNvPr id="71" name="069 rect"/>
          <p:cNvSpPr/>
          <p:nvPr/>
        </p:nvSpPr>
        <p:spPr>
          <a:xfrm>
            <a:off x="8856822" y="2138060"/>
            <a:ext cx="624673" cy="1158248"/>
          </a:xfrm>
          <a:prstGeom prst="rect">
            <a:avLst/>
          </a:prstGeom>
          <a:solidFill>
            <a:srgbClr val="EFECE4"/>
          </a:solidFill>
          <a:ln w="27029">
            <a:solidFill>
              <a:srgbClr val="1F5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070 rect"/>
          <p:cNvSpPr/>
          <p:nvPr/>
        </p:nvSpPr>
        <p:spPr>
          <a:xfrm>
            <a:off x="8895864" y="2177102"/>
            <a:ext cx="546589" cy="546589"/>
          </a:xfrm>
          <a:prstGeom prst="rect">
            <a:avLst/>
          </a:prstGeom>
          <a:solidFill>
            <a:srgbClr val="FFFFFF"/>
          </a:solidFill>
          <a:ln w="18019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071 line"/>
          <p:cNvCxnSpPr/>
          <p:nvPr/>
        </p:nvCxnSpPr>
        <p:spPr>
          <a:xfrm>
            <a:off x="8895864" y="2177102"/>
            <a:ext cx="546589" cy="546589"/>
          </a:xfrm>
          <a:prstGeom prst="line">
            <a:avLst/>
          </a:prstGeom>
          <a:ln w="720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072 line"/>
          <p:cNvCxnSpPr/>
          <p:nvPr/>
        </p:nvCxnSpPr>
        <p:spPr>
          <a:xfrm flipV="1">
            <a:off x="8895864" y="2177102"/>
            <a:ext cx="546589" cy="546589"/>
          </a:xfrm>
          <a:prstGeom prst="line">
            <a:avLst/>
          </a:prstGeom>
          <a:ln w="720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073 text: EV"/>
          <p:cNvSpPr txBox="1"/>
          <p:nvPr/>
        </p:nvSpPr>
        <p:spPr>
          <a:xfrm>
            <a:off x="9090174" y="2416860"/>
            <a:ext cx="157970" cy="1188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48" b="1">
                <a:solidFill>
                  <a:srgbClr val="111111"/>
                </a:solidFill>
              </a:rPr>
              <a:t>EV</a:t>
            </a:r>
          </a:p>
        </p:txBody>
      </p:sp>
      <p:sp>
        <p:nvSpPr>
          <p:cNvPr id="76" name="074 rect"/>
          <p:cNvSpPr/>
          <p:nvPr/>
        </p:nvSpPr>
        <p:spPr>
          <a:xfrm>
            <a:off x="8895864" y="2749719"/>
            <a:ext cx="546589" cy="507546"/>
          </a:xfrm>
          <a:prstGeom prst="rect">
            <a:avLst/>
          </a:prstGeom>
          <a:solidFill>
            <a:srgbClr val="F6F4EE"/>
          </a:solidFill>
          <a:ln w="12613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075 text: EV홀"/>
          <p:cNvSpPr txBox="1"/>
          <p:nvPr/>
        </p:nvSpPr>
        <p:spPr>
          <a:xfrm>
            <a:off x="9053835" y="2979466"/>
            <a:ext cx="230648" cy="10636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70" b="1">
                <a:solidFill>
                  <a:srgbClr val="61666D"/>
                </a:solidFill>
              </a:rPr>
              <a:t>EV홀</a:t>
            </a:r>
          </a:p>
        </p:txBody>
      </p:sp>
      <p:sp>
        <p:nvSpPr>
          <p:cNvPr id="78" name="076 text: 장애인용 EV — 건축면적 제외 (규격 충족"/>
          <p:cNvSpPr txBox="1"/>
          <p:nvPr/>
        </p:nvSpPr>
        <p:spPr>
          <a:xfrm>
            <a:off x="7605824" y="1154500"/>
            <a:ext cx="2005811" cy="1188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748" b="1">
                <a:solidFill>
                  <a:srgbClr val="1F5F95"/>
                </a:solidFill>
              </a:rPr>
              <a:t>장애인용 EV — 건축면적 제외 (규격 충족 조건)</a:t>
            </a:r>
          </a:p>
        </p:txBody>
      </p:sp>
      <p:cxnSp>
        <p:nvCxnSpPr>
          <p:cNvPr id="79" name="077 line"/>
          <p:cNvCxnSpPr/>
          <p:nvPr/>
        </p:nvCxnSpPr>
        <p:spPr>
          <a:xfrm>
            <a:off x="9169159" y="1994905"/>
            <a:ext cx="0" cy="143155"/>
          </a:xfrm>
          <a:prstGeom prst="line">
            <a:avLst/>
          </a:prstGeom>
          <a:ln w="18019">
            <a:solidFill>
              <a:srgbClr val="C0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078 text: 0.55m"/>
          <p:cNvSpPr txBox="1"/>
          <p:nvPr/>
        </p:nvSpPr>
        <p:spPr>
          <a:xfrm>
            <a:off x="9650828" y="2017930"/>
            <a:ext cx="286008" cy="1126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9" b="1">
                <a:solidFill>
                  <a:srgbClr val="C02B2B"/>
                </a:solidFill>
              </a:rPr>
              <a:t>0.55m</a:t>
            </a:r>
          </a:p>
        </p:txBody>
      </p:sp>
      <p:sp>
        <p:nvSpPr>
          <p:cNvPr id="81" name="079 rect"/>
          <p:cNvSpPr/>
          <p:nvPr/>
        </p:nvSpPr>
        <p:spPr>
          <a:xfrm>
            <a:off x="5160839" y="4988131"/>
            <a:ext cx="676729" cy="1353458"/>
          </a:xfrm>
          <a:prstGeom prst="rect">
            <a:avLst/>
          </a:prstGeom>
          <a:solidFill>
            <a:srgbClr val="FF4D00">
              <a:alpha val="9411"/>
            </a:srgbClr>
          </a:solidFill>
          <a:ln w="12613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080 text: 확장"/>
          <p:cNvSpPr txBox="1"/>
          <p:nvPr/>
        </p:nvSpPr>
        <p:spPr>
          <a:xfrm>
            <a:off x="5389085" y="6156390"/>
            <a:ext cx="220237" cy="1126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9" b="0">
                <a:solidFill>
                  <a:srgbClr val="61666D"/>
                </a:solidFill>
              </a:rPr>
              <a:t>확장</a:t>
            </a:r>
          </a:p>
        </p:txBody>
      </p:sp>
      <p:sp>
        <p:nvSpPr>
          <p:cNvPr id="83" name="081 text: 2.6"/>
          <p:cNvSpPr txBox="1"/>
          <p:nvPr/>
        </p:nvSpPr>
        <p:spPr>
          <a:xfrm>
            <a:off x="5408907" y="5089240"/>
            <a:ext cx="180594" cy="1126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9" b="0">
                <a:solidFill>
                  <a:srgbClr val="9A958A"/>
                </a:solidFill>
              </a:rPr>
              <a:t>2.6</a:t>
            </a:r>
          </a:p>
        </p:txBody>
      </p:sp>
      <p:sp>
        <p:nvSpPr>
          <p:cNvPr id="84" name="082 rect"/>
          <p:cNvSpPr/>
          <p:nvPr/>
        </p:nvSpPr>
        <p:spPr>
          <a:xfrm>
            <a:off x="5837569" y="4988131"/>
            <a:ext cx="650701" cy="1301402"/>
          </a:xfrm>
          <a:prstGeom prst="rect">
            <a:avLst/>
          </a:prstGeom>
          <a:solidFill>
            <a:srgbClr val="FFFFFF"/>
          </a:solidFill>
          <a:ln w="12613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083 text: 2.5"/>
          <p:cNvSpPr txBox="1"/>
          <p:nvPr/>
        </p:nvSpPr>
        <p:spPr>
          <a:xfrm>
            <a:off x="6072622" y="6104334"/>
            <a:ext cx="180594" cy="1126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9" b="0">
                <a:solidFill>
                  <a:srgbClr val="61666D"/>
                </a:solidFill>
              </a:rPr>
              <a:t>2.5</a:t>
            </a:r>
          </a:p>
        </p:txBody>
      </p:sp>
      <p:sp>
        <p:nvSpPr>
          <p:cNvPr id="86" name="084 text: 2.5"/>
          <p:cNvSpPr txBox="1"/>
          <p:nvPr/>
        </p:nvSpPr>
        <p:spPr>
          <a:xfrm>
            <a:off x="6072622" y="5089240"/>
            <a:ext cx="180594" cy="1126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9" b="0">
                <a:solidFill>
                  <a:srgbClr val="9A958A"/>
                </a:solidFill>
              </a:rPr>
              <a:t>2.5</a:t>
            </a:r>
          </a:p>
        </p:txBody>
      </p:sp>
      <p:sp>
        <p:nvSpPr>
          <p:cNvPr id="87" name="085 rect"/>
          <p:cNvSpPr/>
          <p:nvPr/>
        </p:nvSpPr>
        <p:spPr>
          <a:xfrm>
            <a:off x="6670466" y="4988131"/>
            <a:ext cx="650701" cy="1301402"/>
          </a:xfrm>
          <a:prstGeom prst="rect">
            <a:avLst/>
          </a:prstGeom>
          <a:solidFill>
            <a:srgbClr val="FFFFFF"/>
          </a:solidFill>
          <a:ln w="12613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086 text: 2.5"/>
          <p:cNvSpPr txBox="1"/>
          <p:nvPr/>
        </p:nvSpPr>
        <p:spPr>
          <a:xfrm>
            <a:off x="6905520" y="6104334"/>
            <a:ext cx="180594" cy="1126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9" b="0">
                <a:solidFill>
                  <a:srgbClr val="61666D"/>
                </a:solidFill>
              </a:rPr>
              <a:t>2.5</a:t>
            </a:r>
          </a:p>
        </p:txBody>
      </p:sp>
      <p:sp>
        <p:nvSpPr>
          <p:cNvPr id="89" name="087 text: 2.5"/>
          <p:cNvSpPr txBox="1"/>
          <p:nvPr/>
        </p:nvSpPr>
        <p:spPr>
          <a:xfrm>
            <a:off x="6905520" y="5089240"/>
            <a:ext cx="180594" cy="1126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9" b="0">
                <a:solidFill>
                  <a:srgbClr val="9A958A"/>
                </a:solidFill>
              </a:rPr>
              <a:t>2.5</a:t>
            </a:r>
          </a:p>
        </p:txBody>
      </p:sp>
      <p:sp>
        <p:nvSpPr>
          <p:cNvPr id="90" name="088 rect"/>
          <p:cNvSpPr/>
          <p:nvPr/>
        </p:nvSpPr>
        <p:spPr>
          <a:xfrm>
            <a:off x="7321167" y="4988131"/>
            <a:ext cx="650701" cy="1301402"/>
          </a:xfrm>
          <a:prstGeom prst="rect">
            <a:avLst/>
          </a:prstGeom>
          <a:solidFill>
            <a:srgbClr val="FFFFFF"/>
          </a:solidFill>
          <a:ln w="12613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089 text: 2.5"/>
          <p:cNvSpPr txBox="1"/>
          <p:nvPr/>
        </p:nvSpPr>
        <p:spPr>
          <a:xfrm>
            <a:off x="7556221" y="6104334"/>
            <a:ext cx="180594" cy="1126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9" b="0">
                <a:solidFill>
                  <a:srgbClr val="61666D"/>
                </a:solidFill>
              </a:rPr>
              <a:t>2.5</a:t>
            </a:r>
          </a:p>
        </p:txBody>
      </p:sp>
      <p:sp>
        <p:nvSpPr>
          <p:cNvPr id="92" name="090 text: 2.5"/>
          <p:cNvSpPr txBox="1"/>
          <p:nvPr/>
        </p:nvSpPr>
        <p:spPr>
          <a:xfrm>
            <a:off x="7556221" y="5089240"/>
            <a:ext cx="180594" cy="1126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9" b="0">
                <a:solidFill>
                  <a:srgbClr val="9A958A"/>
                </a:solidFill>
              </a:rPr>
              <a:t>2.5</a:t>
            </a:r>
          </a:p>
        </p:txBody>
      </p:sp>
      <p:sp>
        <p:nvSpPr>
          <p:cNvPr id="93" name="091 text: 남측열 4대 (확장1·일반3 · 2+2 등스"/>
          <p:cNvSpPr txBox="1"/>
          <p:nvPr/>
        </p:nvSpPr>
        <p:spPr>
          <a:xfrm>
            <a:off x="5092966" y="6520282"/>
            <a:ext cx="2217990" cy="1313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27" b="1">
                <a:solidFill>
                  <a:srgbClr val="2C7A4B"/>
                </a:solidFill>
              </a:rPr>
              <a:t>남측열 4대 (확장1·일반3 · 2+2 등스팬) — 노천</a:t>
            </a:r>
          </a:p>
        </p:txBody>
      </p:sp>
      <p:sp>
        <p:nvSpPr>
          <p:cNvPr id="94" name="092 rect"/>
          <p:cNvSpPr/>
          <p:nvPr/>
        </p:nvSpPr>
        <p:spPr>
          <a:xfrm>
            <a:off x="8023925" y="5105257"/>
            <a:ext cx="286308" cy="130140"/>
          </a:xfrm>
          <a:prstGeom prst="rect">
            <a:avLst/>
          </a:prstGeom>
          <a:solidFill>
            <a:srgbClr val="FFFFFF"/>
          </a:solidFill>
          <a:ln w="12613">
            <a:solidFill>
              <a:srgbClr val="C0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093 text: 소방"/>
          <p:cNvSpPr txBox="1"/>
          <p:nvPr/>
        </p:nvSpPr>
        <p:spPr>
          <a:xfrm>
            <a:off x="8076982" y="5141296"/>
            <a:ext cx="180194" cy="875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551" b="1">
                <a:solidFill>
                  <a:srgbClr val="C02B2B"/>
                </a:solidFill>
              </a:rPr>
              <a:t>소방</a:t>
            </a:r>
          </a:p>
        </p:txBody>
      </p:sp>
      <p:sp>
        <p:nvSpPr>
          <p:cNvPr id="96" name="094 rect"/>
          <p:cNvSpPr/>
          <p:nvPr/>
        </p:nvSpPr>
        <p:spPr>
          <a:xfrm>
            <a:off x="8310233" y="5105257"/>
            <a:ext cx="312336" cy="130140"/>
          </a:xfrm>
          <a:prstGeom prst="rect">
            <a:avLst/>
          </a:prstGeom>
          <a:solidFill>
            <a:srgbClr val="FFFFFF"/>
          </a:solidFill>
          <a:ln w="12613">
            <a:solidFill>
              <a:srgbClr val="009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095 text: PS"/>
          <p:cNvSpPr txBox="1"/>
          <p:nvPr/>
        </p:nvSpPr>
        <p:spPr>
          <a:xfrm>
            <a:off x="8402933" y="5141296"/>
            <a:ext cx="126936" cy="875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551" b="1">
                <a:solidFill>
                  <a:srgbClr val="0097B2"/>
                </a:solidFill>
              </a:rPr>
              <a:t>PS</a:t>
            </a:r>
          </a:p>
        </p:txBody>
      </p:sp>
      <p:sp>
        <p:nvSpPr>
          <p:cNvPr id="98" name="096 rect"/>
          <p:cNvSpPr/>
          <p:nvPr/>
        </p:nvSpPr>
        <p:spPr>
          <a:xfrm>
            <a:off x="8622570" y="5105257"/>
            <a:ext cx="286308" cy="130140"/>
          </a:xfrm>
          <a:prstGeom prst="rect">
            <a:avLst/>
          </a:prstGeom>
          <a:solidFill>
            <a:srgbClr val="FFFFFF"/>
          </a:solidFill>
          <a:ln w="12613">
            <a:solidFill>
              <a:srgbClr val="009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097 text: DS"/>
          <p:cNvSpPr txBox="1"/>
          <p:nvPr/>
        </p:nvSpPr>
        <p:spPr>
          <a:xfrm>
            <a:off x="8702256" y="5141296"/>
            <a:ext cx="126936" cy="875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551" b="1">
                <a:solidFill>
                  <a:srgbClr val="0097B2"/>
                </a:solidFill>
              </a:rPr>
              <a:t>DS</a:t>
            </a:r>
          </a:p>
        </p:txBody>
      </p:sp>
      <p:sp>
        <p:nvSpPr>
          <p:cNvPr id="100" name="098 rect"/>
          <p:cNvSpPr/>
          <p:nvPr/>
        </p:nvSpPr>
        <p:spPr>
          <a:xfrm>
            <a:off x="8908878" y="5105257"/>
            <a:ext cx="234252" cy="130140"/>
          </a:xfrm>
          <a:prstGeom prst="rect">
            <a:avLst/>
          </a:prstGeom>
          <a:solidFill>
            <a:srgbClr val="FFFFFF"/>
          </a:solidFill>
          <a:ln w="12613">
            <a:solidFill>
              <a:srgbClr val="009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099 text: EPS"/>
          <p:cNvSpPr txBox="1"/>
          <p:nvPr/>
        </p:nvSpPr>
        <p:spPr>
          <a:xfrm>
            <a:off x="8940813" y="5141296"/>
            <a:ext cx="170383" cy="875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551" b="1">
                <a:solidFill>
                  <a:srgbClr val="0097B2"/>
                </a:solidFill>
              </a:rPr>
              <a:t>EPS</a:t>
            </a:r>
          </a:p>
        </p:txBody>
      </p:sp>
      <p:sp>
        <p:nvSpPr>
          <p:cNvPr id="102" name="100 rect"/>
          <p:cNvSpPr/>
          <p:nvPr/>
        </p:nvSpPr>
        <p:spPr>
          <a:xfrm>
            <a:off x="9143131" y="5105257"/>
            <a:ext cx="338364" cy="130140"/>
          </a:xfrm>
          <a:prstGeom prst="rect">
            <a:avLst/>
          </a:prstGeom>
          <a:solidFill>
            <a:srgbClr val="FFFFFF"/>
          </a:solidFill>
          <a:ln w="12613">
            <a:solidFill>
              <a:srgbClr val="1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101 text: 출입"/>
          <p:cNvSpPr txBox="1"/>
          <p:nvPr/>
        </p:nvSpPr>
        <p:spPr>
          <a:xfrm>
            <a:off x="9222216" y="5141296"/>
            <a:ext cx="180194" cy="875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551" b="1">
                <a:solidFill>
                  <a:srgbClr val="1F7A45"/>
                </a:solidFill>
              </a:rPr>
              <a:t>출입</a:t>
            </a:r>
          </a:p>
        </p:txBody>
      </p:sp>
      <p:sp>
        <p:nvSpPr>
          <p:cNvPr id="104" name="102 text: 설비 슬롯 0.5m — 배관 전용"/>
          <p:cNvSpPr txBox="1"/>
          <p:nvPr/>
        </p:nvSpPr>
        <p:spPr>
          <a:xfrm>
            <a:off x="6949967" y="4942081"/>
            <a:ext cx="1021901" cy="100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30" b="1">
                <a:solidFill>
                  <a:srgbClr val="0097B2"/>
                </a:solidFill>
              </a:rPr>
              <a:t>설비 슬롯 0.5m — 배관 전용</a:t>
            </a:r>
          </a:p>
        </p:txBody>
      </p:sp>
      <p:sp>
        <p:nvSpPr>
          <p:cNvPr id="105" name="103 rect"/>
          <p:cNvSpPr/>
          <p:nvPr/>
        </p:nvSpPr>
        <p:spPr>
          <a:xfrm>
            <a:off x="8023925" y="5235397"/>
            <a:ext cx="1457570" cy="832897"/>
          </a:xfrm>
          <a:prstGeom prst="rect">
            <a:avLst/>
          </a:prstGeom>
          <a:solidFill>
            <a:srgbClr val="EFECE4"/>
          </a:solidFill>
          <a:ln w="27029">
            <a:solidFill>
              <a:srgbClr val="1F5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104 rect"/>
          <p:cNvSpPr/>
          <p:nvPr/>
        </p:nvSpPr>
        <p:spPr>
          <a:xfrm>
            <a:off x="8075981" y="5287453"/>
            <a:ext cx="1353458" cy="728785"/>
          </a:xfrm>
          <a:prstGeom prst="rect">
            <a:avLst/>
          </a:prstGeom>
          <a:solidFill>
            <a:srgbClr val="FFFFFF"/>
          </a:solidFill>
          <a:ln w="18019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105 line"/>
          <p:cNvCxnSpPr/>
          <p:nvPr/>
        </p:nvCxnSpPr>
        <p:spPr>
          <a:xfrm>
            <a:off x="8075981" y="5651846"/>
            <a:ext cx="1015094" cy="0"/>
          </a:xfrm>
          <a:prstGeom prst="line">
            <a:avLst/>
          </a:prstGeom>
          <a:ln w="900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106 line"/>
          <p:cNvCxnSpPr/>
          <p:nvPr/>
        </p:nvCxnSpPr>
        <p:spPr>
          <a:xfrm>
            <a:off x="9091075" y="5287453"/>
            <a:ext cx="0" cy="728786"/>
          </a:xfrm>
          <a:prstGeom prst="line">
            <a:avLst/>
          </a:prstGeom>
          <a:ln w="900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107 line"/>
          <p:cNvCxnSpPr/>
          <p:nvPr/>
        </p:nvCxnSpPr>
        <p:spPr>
          <a:xfrm>
            <a:off x="8154065" y="5287453"/>
            <a:ext cx="0" cy="728786"/>
          </a:xfrm>
          <a:prstGeom prst="line">
            <a:avLst/>
          </a:prstGeom>
          <a:ln w="540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108 line"/>
          <p:cNvCxnSpPr/>
          <p:nvPr/>
        </p:nvCxnSpPr>
        <p:spPr>
          <a:xfrm>
            <a:off x="8232149" y="5287453"/>
            <a:ext cx="0" cy="728786"/>
          </a:xfrm>
          <a:prstGeom prst="line">
            <a:avLst/>
          </a:prstGeom>
          <a:ln w="540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109 line"/>
          <p:cNvCxnSpPr/>
          <p:nvPr/>
        </p:nvCxnSpPr>
        <p:spPr>
          <a:xfrm>
            <a:off x="8310233" y="5287453"/>
            <a:ext cx="0" cy="728786"/>
          </a:xfrm>
          <a:prstGeom prst="line">
            <a:avLst/>
          </a:prstGeom>
          <a:ln w="540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110 line"/>
          <p:cNvCxnSpPr/>
          <p:nvPr/>
        </p:nvCxnSpPr>
        <p:spPr>
          <a:xfrm>
            <a:off x="8388317" y="5287453"/>
            <a:ext cx="0" cy="728786"/>
          </a:xfrm>
          <a:prstGeom prst="line">
            <a:avLst/>
          </a:prstGeom>
          <a:ln w="540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111 line"/>
          <p:cNvCxnSpPr/>
          <p:nvPr/>
        </p:nvCxnSpPr>
        <p:spPr>
          <a:xfrm>
            <a:off x="8466402" y="5287453"/>
            <a:ext cx="0" cy="728786"/>
          </a:xfrm>
          <a:prstGeom prst="line">
            <a:avLst/>
          </a:prstGeom>
          <a:ln w="540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112 line"/>
          <p:cNvCxnSpPr/>
          <p:nvPr/>
        </p:nvCxnSpPr>
        <p:spPr>
          <a:xfrm>
            <a:off x="8544486" y="5287453"/>
            <a:ext cx="0" cy="728786"/>
          </a:xfrm>
          <a:prstGeom prst="line">
            <a:avLst/>
          </a:prstGeom>
          <a:ln w="540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113 line"/>
          <p:cNvCxnSpPr/>
          <p:nvPr/>
        </p:nvCxnSpPr>
        <p:spPr>
          <a:xfrm>
            <a:off x="8622570" y="5287453"/>
            <a:ext cx="0" cy="728786"/>
          </a:xfrm>
          <a:prstGeom prst="line">
            <a:avLst/>
          </a:prstGeom>
          <a:ln w="540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114 line"/>
          <p:cNvCxnSpPr/>
          <p:nvPr/>
        </p:nvCxnSpPr>
        <p:spPr>
          <a:xfrm>
            <a:off x="8700654" y="5287453"/>
            <a:ext cx="0" cy="728786"/>
          </a:xfrm>
          <a:prstGeom prst="line">
            <a:avLst/>
          </a:prstGeom>
          <a:ln w="540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115 line"/>
          <p:cNvCxnSpPr/>
          <p:nvPr/>
        </p:nvCxnSpPr>
        <p:spPr>
          <a:xfrm>
            <a:off x="8778738" y="5287453"/>
            <a:ext cx="0" cy="728786"/>
          </a:xfrm>
          <a:prstGeom prst="line">
            <a:avLst/>
          </a:prstGeom>
          <a:ln w="540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116 line"/>
          <p:cNvCxnSpPr/>
          <p:nvPr/>
        </p:nvCxnSpPr>
        <p:spPr>
          <a:xfrm>
            <a:off x="8856822" y="5287453"/>
            <a:ext cx="0" cy="728786"/>
          </a:xfrm>
          <a:prstGeom prst="line">
            <a:avLst/>
          </a:prstGeom>
          <a:ln w="540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117 line"/>
          <p:cNvCxnSpPr/>
          <p:nvPr/>
        </p:nvCxnSpPr>
        <p:spPr>
          <a:xfrm>
            <a:off x="8934906" y="5287453"/>
            <a:ext cx="0" cy="728786"/>
          </a:xfrm>
          <a:prstGeom prst="line">
            <a:avLst/>
          </a:prstGeom>
          <a:ln w="540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118 line"/>
          <p:cNvCxnSpPr/>
          <p:nvPr/>
        </p:nvCxnSpPr>
        <p:spPr>
          <a:xfrm>
            <a:off x="9012991" y="5287453"/>
            <a:ext cx="0" cy="728786"/>
          </a:xfrm>
          <a:prstGeom prst="line">
            <a:avLst/>
          </a:prstGeom>
          <a:ln w="540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119 arrow"/>
          <p:cNvCxnSpPr/>
          <p:nvPr/>
        </p:nvCxnSpPr>
        <p:spPr>
          <a:xfrm>
            <a:off x="8141051" y="5812019"/>
            <a:ext cx="858926" cy="0"/>
          </a:xfrm>
          <a:prstGeom prst="line">
            <a:avLst/>
          </a:prstGeom>
          <a:ln w="9910">
            <a:solidFill>
              <a:srgbClr val="6166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120 text: 계단실 1.2m×2"/>
          <p:cNvSpPr txBox="1"/>
          <p:nvPr/>
        </p:nvSpPr>
        <p:spPr>
          <a:xfrm>
            <a:off x="8451886" y="5622314"/>
            <a:ext cx="601648" cy="10636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70" b="1">
                <a:solidFill>
                  <a:srgbClr val="111111"/>
                </a:solidFill>
              </a:rPr>
              <a:t>계단실 1.2m×2</a:t>
            </a:r>
          </a:p>
        </p:txBody>
      </p:sp>
      <p:cxnSp>
        <p:nvCxnSpPr>
          <p:cNvPr id="123" name="121 arrow"/>
          <p:cNvCxnSpPr/>
          <p:nvPr/>
        </p:nvCxnSpPr>
        <p:spPr>
          <a:xfrm flipV="1">
            <a:off x="8752710" y="6159393"/>
            <a:ext cx="0" cy="754813"/>
          </a:xfrm>
          <a:prstGeom prst="line">
            <a:avLst/>
          </a:prstGeom>
          <a:ln w="23425">
            <a:solidFill>
              <a:srgbClr val="1F7A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122 text: 계단탑 — 인도측 주출입"/>
          <p:cNvSpPr txBox="1"/>
          <p:nvPr/>
        </p:nvSpPr>
        <p:spPr>
          <a:xfrm>
            <a:off x="8232925" y="7036839"/>
            <a:ext cx="1039570" cy="1188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48" b="1">
                <a:solidFill>
                  <a:srgbClr val="1F7A45"/>
                </a:solidFill>
              </a:rPr>
              <a:t>계단탑 — 인도측 주출입</a:t>
            </a:r>
          </a:p>
        </p:txBody>
      </p:sp>
      <p:cxnSp>
        <p:nvCxnSpPr>
          <p:cNvPr id="125" name="123 line"/>
          <p:cNvCxnSpPr/>
          <p:nvPr/>
        </p:nvCxnSpPr>
        <p:spPr>
          <a:xfrm>
            <a:off x="9351355" y="6068295"/>
            <a:ext cx="0" cy="143154"/>
          </a:xfrm>
          <a:prstGeom prst="line">
            <a:avLst/>
          </a:prstGeom>
          <a:ln w="18019">
            <a:solidFill>
              <a:srgbClr val="C0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124 text: 이격 0.5m 한계"/>
          <p:cNvSpPr txBox="1"/>
          <p:nvPr/>
        </p:nvSpPr>
        <p:spPr>
          <a:xfrm>
            <a:off x="9581603" y="6178414"/>
            <a:ext cx="580625" cy="100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30" b="1">
                <a:solidFill>
                  <a:srgbClr val="C02B2B"/>
                </a:solidFill>
              </a:rPr>
              <a:t>이격 0.5m 한계</a:t>
            </a:r>
          </a:p>
        </p:txBody>
      </p:sp>
      <p:sp>
        <p:nvSpPr>
          <p:cNvPr id="127" name="125 rect"/>
          <p:cNvSpPr/>
          <p:nvPr/>
        </p:nvSpPr>
        <p:spPr>
          <a:xfrm>
            <a:off x="4991657" y="2307242"/>
            <a:ext cx="156168" cy="1561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126 rect"/>
          <p:cNvSpPr/>
          <p:nvPr/>
        </p:nvSpPr>
        <p:spPr>
          <a:xfrm>
            <a:off x="4991657" y="3270280"/>
            <a:ext cx="156168" cy="1561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127 rect"/>
          <p:cNvSpPr/>
          <p:nvPr/>
        </p:nvSpPr>
        <p:spPr>
          <a:xfrm>
            <a:off x="4991657" y="4988131"/>
            <a:ext cx="156168" cy="1561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128 rect"/>
          <p:cNvSpPr/>
          <p:nvPr/>
        </p:nvSpPr>
        <p:spPr>
          <a:xfrm>
            <a:off x="6488270" y="2307242"/>
            <a:ext cx="156168" cy="1561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129 rect"/>
          <p:cNvSpPr/>
          <p:nvPr/>
        </p:nvSpPr>
        <p:spPr>
          <a:xfrm>
            <a:off x="6488270" y="3270280"/>
            <a:ext cx="156168" cy="1561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130 rect"/>
          <p:cNvSpPr/>
          <p:nvPr/>
        </p:nvSpPr>
        <p:spPr>
          <a:xfrm>
            <a:off x="6488270" y="4988131"/>
            <a:ext cx="156168" cy="1561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131 rect"/>
          <p:cNvSpPr/>
          <p:nvPr/>
        </p:nvSpPr>
        <p:spPr>
          <a:xfrm>
            <a:off x="7841728" y="2307242"/>
            <a:ext cx="156168" cy="1561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132 rect"/>
          <p:cNvSpPr/>
          <p:nvPr/>
        </p:nvSpPr>
        <p:spPr>
          <a:xfrm>
            <a:off x="7841728" y="3270280"/>
            <a:ext cx="156168" cy="1561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133 text: 부분 기둥선"/>
          <p:cNvSpPr txBox="1"/>
          <p:nvPr/>
        </p:nvSpPr>
        <p:spPr>
          <a:xfrm>
            <a:off x="7700076" y="3593128"/>
            <a:ext cx="439473" cy="938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591" b="1">
                <a:solidFill>
                  <a:srgbClr val="61666D"/>
                </a:solidFill>
              </a:rPr>
              <a:t>부분 기둥선</a:t>
            </a:r>
          </a:p>
        </p:txBody>
      </p:sp>
      <p:sp>
        <p:nvSpPr>
          <p:cNvPr id="136" name="134 text: (북측 밴드만)"/>
          <p:cNvSpPr txBox="1"/>
          <p:nvPr/>
        </p:nvSpPr>
        <p:spPr>
          <a:xfrm>
            <a:off x="7690966" y="3805857"/>
            <a:ext cx="457693" cy="875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551" b="0">
                <a:solidFill>
                  <a:srgbClr val="9A958A"/>
                </a:solidFill>
              </a:rPr>
              <a:t>(북측 밴드만)</a:t>
            </a:r>
          </a:p>
        </p:txBody>
      </p:sp>
      <p:sp>
        <p:nvSpPr>
          <p:cNvPr id="137" name="135 text: 슬롯 단부·격벽 = RC 구조벽"/>
          <p:cNvSpPr txBox="1"/>
          <p:nvPr/>
        </p:nvSpPr>
        <p:spPr>
          <a:xfrm>
            <a:off x="9464852" y="4920558"/>
            <a:ext cx="970295" cy="938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591" b="1">
                <a:solidFill>
                  <a:srgbClr val="111111"/>
                </a:solidFill>
              </a:rPr>
              <a:t>슬롯 단부·격벽 = RC 구조벽</a:t>
            </a:r>
          </a:p>
        </p:txBody>
      </p:sp>
      <p:sp>
        <p:nvSpPr>
          <p:cNvPr id="138" name="136 text: (남동 모서리, 계단탑 벽체 지지)"/>
          <p:cNvSpPr txBox="1"/>
          <p:nvPr/>
        </p:nvSpPr>
        <p:spPr>
          <a:xfrm>
            <a:off x="9431041" y="5133287"/>
            <a:ext cx="1037918" cy="875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551" b="0">
                <a:solidFill>
                  <a:srgbClr val="61666D"/>
                </a:solidFill>
              </a:rPr>
              <a:t>(남동 모서리, 계단탑 벽체 지지)</a:t>
            </a:r>
          </a:p>
        </p:txBody>
      </p:sp>
      <p:cxnSp>
        <p:nvCxnSpPr>
          <p:cNvPr id="139" name="137 line"/>
          <p:cNvCxnSpPr/>
          <p:nvPr/>
        </p:nvCxnSpPr>
        <p:spPr>
          <a:xfrm>
            <a:off x="5160839" y="1682569"/>
            <a:ext cx="1314417" cy="0"/>
          </a:xfrm>
          <a:prstGeom prst="line">
            <a:avLst/>
          </a:prstGeom>
          <a:ln w="117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138 text: 5.75 m"/>
          <p:cNvSpPr txBox="1"/>
          <p:nvPr/>
        </p:nvSpPr>
        <p:spPr>
          <a:xfrm>
            <a:off x="5652494" y="1505878"/>
            <a:ext cx="330105" cy="1188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48" b="1">
                <a:solidFill>
                  <a:srgbClr val="111111"/>
                </a:solidFill>
              </a:rPr>
              <a:t>5.75 m</a:t>
            </a:r>
          </a:p>
        </p:txBody>
      </p:sp>
      <p:cxnSp>
        <p:nvCxnSpPr>
          <p:cNvPr id="141" name="139 line"/>
          <p:cNvCxnSpPr/>
          <p:nvPr/>
        </p:nvCxnSpPr>
        <p:spPr>
          <a:xfrm>
            <a:off x="6657452" y="1682569"/>
            <a:ext cx="1171262" cy="0"/>
          </a:xfrm>
          <a:prstGeom prst="line">
            <a:avLst/>
          </a:prstGeom>
          <a:ln w="117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140 text: 5.2 m"/>
          <p:cNvSpPr txBox="1"/>
          <p:nvPr/>
        </p:nvSpPr>
        <p:spPr>
          <a:xfrm>
            <a:off x="7107512" y="1505878"/>
            <a:ext cx="271142" cy="1188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48" b="1">
                <a:solidFill>
                  <a:srgbClr val="111111"/>
                </a:solidFill>
              </a:rPr>
              <a:t>5.2 m</a:t>
            </a:r>
          </a:p>
        </p:txBody>
      </p:sp>
      <p:cxnSp>
        <p:nvCxnSpPr>
          <p:cNvPr id="143" name="141 line"/>
          <p:cNvCxnSpPr/>
          <p:nvPr/>
        </p:nvCxnSpPr>
        <p:spPr>
          <a:xfrm>
            <a:off x="8010911" y="1682569"/>
            <a:ext cx="793855" cy="0"/>
          </a:xfrm>
          <a:prstGeom prst="line">
            <a:avLst/>
          </a:prstGeom>
          <a:ln w="117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142 text: 3.75 m"/>
          <p:cNvSpPr txBox="1"/>
          <p:nvPr/>
        </p:nvSpPr>
        <p:spPr>
          <a:xfrm>
            <a:off x="8243286" y="1505878"/>
            <a:ext cx="330105" cy="1188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48" b="1">
                <a:solidFill>
                  <a:srgbClr val="111111"/>
                </a:solidFill>
              </a:rPr>
              <a:t>3.75 m</a:t>
            </a:r>
          </a:p>
        </p:txBody>
      </p:sp>
      <p:sp>
        <p:nvSpPr>
          <p:cNvPr id="145" name="143 rect"/>
          <p:cNvSpPr/>
          <p:nvPr/>
        </p:nvSpPr>
        <p:spPr>
          <a:xfrm>
            <a:off x="4978643" y="2307242"/>
            <a:ext cx="4502852" cy="2798015"/>
          </a:xfrm>
          <a:prstGeom prst="rect">
            <a:avLst/>
          </a:prstGeom>
          <a:solidFill>
            <a:srgbClr val="1F5F95">
              <a:alpha val="6274"/>
            </a:srgbClr>
          </a:solidFill>
          <a:ln w="30633">
            <a:solidFill>
              <a:srgbClr val="1F5F9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144 text: 본관(2~5F) — 내부 코어 0"/>
          <p:cNvSpPr txBox="1"/>
          <p:nvPr/>
        </p:nvSpPr>
        <p:spPr>
          <a:xfrm>
            <a:off x="5314505" y="3821874"/>
            <a:ext cx="1306407" cy="1376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67" b="1">
                <a:solidFill>
                  <a:srgbClr val="1F5F95"/>
                </a:solidFill>
              </a:rPr>
              <a:t>본관(2~5F) — 내부 코어 0</a:t>
            </a:r>
          </a:p>
        </p:txBody>
      </p:sp>
      <p:sp>
        <p:nvSpPr>
          <p:cNvPr id="147" name="145 text: 본관 186 + 계단탑 18 + 슬롯 2.8"/>
          <p:cNvSpPr txBox="1"/>
          <p:nvPr/>
        </p:nvSpPr>
        <p:spPr>
          <a:xfrm>
            <a:off x="4564422" y="4082655"/>
            <a:ext cx="2806574" cy="1188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48" b="1">
                <a:solidFill>
                  <a:srgbClr val="1F5F95"/>
                </a:solidFill>
              </a:rPr>
              <a:t>본관 186 + 계단탑 18 + 슬롯 2.8 − EV면제 11 ≈ 196㎡ ≤ 204㎡</a:t>
            </a:r>
          </a:p>
        </p:txBody>
      </p:sp>
      <p:cxnSp>
        <p:nvCxnSpPr>
          <p:cNvPr id="148" name="146 line"/>
          <p:cNvCxnSpPr/>
          <p:nvPr/>
        </p:nvCxnSpPr>
        <p:spPr>
          <a:xfrm>
            <a:off x="9481495" y="4077149"/>
            <a:ext cx="138149" cy="0"/>
          </a:xfrm>
          <a:prstGeom prst="line">
            <a:avLst/>
          </a:prstGeom>
          <a:ln w="18019">
            <a:solidFill>
              <a:srgbClr val="C0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147 text: 0.55m"/>
          <p:cNvSpPr txBox="1"/>
          <p:nvPr/>
        </p:nvSpPr>
        <p:spPr>
          <a:xfrm>
            <a:off x="9728912" y="3891950"/>
            <a:ext cx="286008" cy="1126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9" b="1">
                <a:solidFill>
                  <a:srgbClr val="C02B2B"/>
                </a:solidFill>
              </a:rPr>
              <a:t>0.55m</a:t>
            </a:r>
          </a:p>
        </p:txBody>
      </p:sp>
      <p:sp>
        <p:nvSpPr>
          <p:cNvPr id="150" name="148 rect"/>
          <p:cNvSpPr/>
          <p:nvPr/>
        </p:nvSpPr>
        <p:spPr>
          <a:xfrm>
            <a:off x="8258177" y="3322336"/>
            <a:ext cx="1223318" cy="1782921"/>
          </a:xfrm>
          <a:prstGeom prst="rect">
            <a:avLst/>
          </a:prstGeom>
          <a:solidFill>
            <a:srgbClr val="0097B2">
              <a:alpha val="3137"/>
            </a:srgbClr>
          </a:solidFill>
          <a:ln w="14415">
            <a:solidFill>
              <a:srgbClr val="0097B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149 text: 전실 (2~5F 투영)"/>
          <p:cNvSpPr txBox="1"/>
          <p:nvPr/>
        </p:nvSpPr>
        <p:spPr>
          <a:xfrm>
            <a:off x="8522637" y="3740286"/>
            <a:ext cx="694398" cy="10636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70" b="1">
                <a:solidFill>
                  <a:srgbClr val="0097B2"/>
                </a:solidFill>
              </a:rPr>
              <a:t>전실 (2~5F 투영)</a:t>
            </a:r>
          </a:p>
        </p:txBody>
      </p:sp>
      <p:sp>
        <p:nvSpPr>
          <p:cNvPr id="152" name="150 text: EV홀 ↔ 계단 출입 연결"/>
          <p:cNvSpPr txBox="1"/>
          <p:nvPr/>
        </p:nvSpPr>
        <p:spPr>
          <a:xfrm>
            <a:off x="8446580" y="3979043"/>
            <a:ext cx="846512" cy="100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30" b="0">
                <a:solidFill>
                  <a:srgbClr val="0097B2"/>
                </a:solidFill>
              </a:rPr>
              <a:t>EV홀 ↔ 계단 출입 연결</a:t>
            </a:r>
          </a:p>
        </p:txBody>
      </p:sp>
      <p:sp>
        <p:nvSpPr>
          <p:cNvPr id="153" name="151 text: + 화장실 스택 존"/>
          <p:cNvSpPr txBox="1"/>
          <p:nvPr/>
        </p:nvSpPr>
        <p:spPr>
          <a:xfrm>
            <a:off x="8549091" y="4213296"/>
            <a:ext cx="641491" cy="100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30" b="0">
                <a:solidFill>
                  <a:srgbClr val="0097B2"/>
                </a:solidFill>
              </a:rPr>
              <a:t>+ 화장실 스택 존</a:t>
            </a:r>
          </a:p>
        </p:txBody>
      </p:sp>
      <p:cxnSp>
        <p:nvCxnSpPr>
          <p:cNvPr id="154" name="152 arrow"/>
          <p:cNvCxnSpPr/>
          <p:nvPr/>
        </p:nvCxnSpPr>
        <p:spPr>
          <a:xfrm flipV="1">
            <a:off x="9169159" y="3192196"/>
            <a:ext cx="0" cy="130140"/>
          </a:xfrm>
          <a:prstGeom prst="line">
            <a:avLst/>
          </a:prstGeom>
          <a:ln w="16217">
            <a:solidFill>
              <a:srgbClr val="0097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153 arrow"/>
          <p:cNvCxnSpPr/>
          <p:nvPr/>
        </p:nvCxnSpPr>
        <p:spPr>
          <a:xfrm>
            <a:off x="8193107" y="5014159"/>
            <a:ext cx="0" cy="117126"/>
          </a:xfrm>
          <a:prstGeom prst="line">
            <a:avLst/>
          </a:prstGeom>
          <a:ln w="16217">
            <a:solidFill>
              <a:srgbClr val="0097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154 arrow"/>
          <p:cNvCxnSpPr/>
          <p:nvPr/>
        </p:nvCxnSpPr>
        <p:spPr>
          <a:xfrm>
            <a:off x="8388317" y="5222383"/>
            <a:ext cx="0" cy="1821964"/>
          </a:xfrm>
          <a:prstGeom prst="line">
            <a:avLst/>
          </a:prstGeom>
          <a:ln w="14415">
            <a:solidFill>
              <a:srgbClr val="0097B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155 text: 지중 횡주관 → 남측 하수"/>
          <p:cNvSpPr txBox="1"/>
          <p:nvPr/>
        </p:nvSpPr>
        <p:spPr>
          <a:xfrm>
            <a:off x="7118699" y="6872662"/>
            <a:ext cx="853169" cy="938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591" b="0">
                <a:solidFill>
                  <a:srgbClr val="0097B2"/>
                </a:solidFill>
              </a:rPr>
              <a:t>지중 횡주관 → 남측 하수</a:t>
            </a:r>
          </a:p>
        </p:txBody>
      </p:sp>
      <p:sp>
        <p:nvSpPr>
          <p:cNvPr id="158" name="156 rect"/>
          <p:cNvSpPr/>
          <p:nvPr/>
        </p:nvSpPr>
        <p:spPr>
          <a:xfrm>
            <a:off x="4340956" y="5170327"/>
            <a:ext cx="754813" cy="1145234"/>
          </a:xfrm>
          <a:prstGeom prst="rect">
            <a:avLst/>
          </a:prstGeom>
          <a:noFill/>
          <a:ln w="14415">
            <a:solidFill>
              <a:srgbClr val="2C7A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157 text: 마당 보존"/>
          <p:cNvSpPr txBox="1"/>
          <p:nvPr/>
        </p:nvSpPr>
        <p:spPr>
          <a:xfrm>
            <a:off x="4492920" y="5579268"/>
            <a:ext cx="450885" cy="1188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48" b="1">
                <a:solidFill>
                  <a:srgbClr val="2C7A4B"/>
                </a:solidFill>
              </a:rPr>
              <a:t>마당 보존</a:t>
            </a:r>
          </a:p>
        </p:txBody>
      </p:sp>
      <p:sp>
        <p:nvSpPr>
          <p:cNvPr id="160" name="158 text: 조경 · 머무는 계단"/>
          <p:cNvSpPr txBox="1"/>
          <p:nvPr/>
        </p:nvSpPr>
        <p:spPr>
          <a:xfrm>
            <a:off x="4346061" y="5874586"/>
            <a:ext cx="744602" cy="10636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70" b="1">
                <a:solidFill>
                  <a:srgbClr val="2C7A4B"/>
                </a:solidFill>
              </a:rPr>
              <a:t>조경 · 머무는 계단</a:t>
            </a:r>
          </a:p>
        </p:txBody>
      </p:sp>
      <p:cxnSp>
        <p:nvCxnSpPr>
          <p:cNvPr id="161" name="159 line"/>
          <p:cNvCxnSpPr/>
          <p:nvPr/>
        </p:nvCxnSpPr>
        <p:spPr>
          <a:xfrm>
            <a:off x="4978643" y="1396260"/>
            <a:ext cx="4502852" cy="0"/>
          </a:xfrm>
          <a:prstGeom prst="line">
            <a:avLst/>
          </a:prstGeom>
          <a:ln w="10811">
            <a:solidFill>
              <a:srgbClr val="1F5F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160 line"/>
          <p:cNvCxnSpPr/>
          <p:nvPr/>
        </p:nvCxnSpPr>
        <p:spPr>
          <a:xfrm>
            <a:off x="4978643" y="1357218"/>
            <a:ext cx="0" cy="78084"/>
          </a:xfrm>
          <a:prstGeom prst="line">
            <a:avLst/>
          </a:prstGeom>
          <a:ln w="10811">
            <a:solidFill>
              <a:srgbClr val="1F5F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161 line"/>
          <p:cNvCxnSpPr/>
          <p:nvPr/>
        </p:nvCxnSpPr>
        <p:spPr>
          <a:xfrm>
            <a:off x="9481495" y="1357218"/>
            <a:ext cx="0" cy="78084"/>
          </a:xfrm>
          <a:prstGeom prst="line">
            <a:avLst/>
          </a:prstGeom>
          <a:ln w="10811">
            <a:solidFill>
              <a:srgbClr val="1F5F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162 text: 본관 17.3 m"/>
          <p:cNvSpPr txBox="1"/>
          <p:nvPr/>
        </p:nvSpPr>
        <p:spPr>
          <a:xfrm>
            <a:off x="5185216" y="1232083"/>
            <a:ext cx="523864" cy="1126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9" b="1">
                <a:solidFill>
                  <a:srgbClr val="1F5F95"/>
                </a:solidFill>
              </a:rPr>
              <a:t>본관 17.3 m</a:t>
            </a:r>
          </a:p>
        </p:txBody>
      </p:sp>
      <p:cxnSp>
        <p:nvCxnSpPr>
          <p:cNvPr id="165" name="163 line"/>
          <p:cNvCxnSpPr/>
          <p:nvPr/>
        </p:nvCxnSpPr>
        <p:spPr>
          <a:xfrm>
            <a:off x="4848503" y="2307242"/>
            <a:ext cx="130140" cy="0"/>
          </a:xfrm>
          <a:prstGeom prst="line">
            <a:avLst/>
          </a:prstGeom>
          <a:ln w="10811">
            <a:solidFill>
              <a:srgbClr val="1F5F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164 line"/>
          <p:cNvCxnSpPr/>
          <p:nvPr/>
        </p:nvCxnSpPr>
        <p:spPr>
          <a:xfrm>
            <a:off x="4848503" y="5105257"/>
            <a:ext cx="130140" cy="0"/>
          </a:xfrm>
          <a:prstGeom prst="line">
            <a:avLst/>
          </a:prstGeom>
          <a:ln w="10811">
            <a:solidFill>
              <a:srgbClr val="1F5F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165 line"/>
          <p:cNvCxnSpPr/>
          <p:nvPr/>
        </p:nvCxnSpPr>
        <p:spPr>
          <a:xfrm>
            <a:off x="4900559" y="2307242"/>
            <a:ext cx="0" cy="2798015"/>
          </a:xfrm>
          <a:prstGeom prst="line">
            <a:avLst/>
          </a:prstGeom>
          <a:ln w="10811">
            <a:solidFill>
              <a:srgbClr val="1F5F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166 text: 10.75 m"/>
          <p:cNvSpPr txBox="1"/>
          <p:nvPr/>
        </p:nvSpPr>
        <p:spPr>
          <a:xfrm rot="5400000">
            <a:off x="4633296" y="3802728"/>
            <a:ext cx="352329" cy="10636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70" b="1">
                <a:solidFill>
                  <a:srgbClr val="1F5F95"/>
                </a:solidFill>
              </a:rPr>
              <a:t>10.75 m</a:t>
            </a:r>
          </a:p>
        </p:txBody>
      </p:sp>
      <p:sp>
        <p:nvSpPr>
          <p:cNvPr id="169" name="167 text: 계단탑 5.6 × 3.2"/>
          <p:cNvSpPr txBox="1"/>
          <p:nvPr/>
        </p:nvSpPr>
        <p:spPr>
          <a:xfrm>
            <a:off x="8114823" y="6243484"/>
            <a:ext cx="651101" cy="100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30" b="1">
                <a:solidFill>
                  <a:srgbClr val="1F5F95"/>
                </a:solidFill>
              </a:rPr>
              <a:t>계단탑 5.6 × 3.2</a:t>
            </a:r>
          </a:p>
        </p:txBody>
      </p:sp>
      <p:sp>
        <p:nvSpPr>
          <p:cNvPr id="170" name="168 text: EV 2.4 × 4.45"/>
          <p:cNvSpPr txBox="1"/>
          <p:nvPr/>
        </p:nvSpPr>
        <p:spPr>
          <a:xfrm>
            <a:off x="9195187" y="3384903"/>
            <a:ext cx="527318" cy="938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591" b="1">
                <a:solidFill>
                  <a:srgbClr val="1F5F95"/>
                </a:solidFill>
              </a:rPr>
              <a:t>EV 2.4 × 4.45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20040" y="8567928"/>
            <a:ext cx="11521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F6C66"/>
                </a:solidFill>
              </a:rPr>
              <a:t>도면 축척: 1 m = 26 px (원본) · 대지 좌표계 u,v (북변 P0→P1 = u축)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</a:rPr>
              <a:t>남북 단면 — 층고 3.6 m · 본당 7.2 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6C66"/>
                </a:solidFill>
              </a:rPr>
              <a:t>1층 필로티(차로 유효 2.8m) · 2~4F 3.6m · 5F 본당 7.2m · 옥상 설비 · 총고 약 22m</a:t>
            </a:r>
          </a:p>
        </p:txBody>
      </p:sp>
      <p:cxnSp>
        <p:nvCxnSpPr>
          <p:cNvPr id="4" name="001 line"/>
          <p:cNvCxnSpPr/>
          <p:nvPr/>
        </p:nvCxnSpPr>
        <p:spPr>
          <a:xfrm>
            <a:off x="421850" y="7319730"/>
            <a:ext cx="11097382" cy="0"/>
          </a:xfrm>
          <a:prstGeom prst="line">
            <a:avLst/>
          </a:prstGeom>
          <a:ln w="3876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002 line"/>
          <p:cNvCxnSpPr/>
          <p:nvPr/>
        </p:nvCxnSpPr>
        <p:spPr>
          <a:xfrm flipH="1">
            <a:off x="269134" y="7319730"/>
            <a:ext cx="152716" cy="123347"/>
          </a:xfrm>
          <a:prstGeom prst="line">
            <a:avLst/>
          </a:prstGeom>
          <a:ln w="17621">
            <a:solidFill>
              <a:srgbClr val="9A9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003 line"/>
          <p:cNvCxnSpPr/>
          <p:nvPr/>
        </p:nvCxnSpPr>
        <p:spPr>
          <a:xfrm flipH="1">
            <a:off x="645051" y="7319730"/>
            <a:ext cx="152716" cy="123347"/>
          </a:xfrm>
          <a:prstGeom prst="line">
            <a:avLst/>
          </a:prstGeom>
          <a:ln w="17621">
            <a:solidFill>
              <a:srgbClr val="9A9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004 line"/>
          <p:cNvCxnSpPr/>
          <p:nvPr/>
        </p:nvCxnSpPr>
        <p:spPr>
          <a:xfrm flipH="1">
            <a:off x="1022926" y="7319730"/>
            <a:ext cx="152716" cy="123347"/>
          </a:xfrm>
          <a:prstGeom prst="line">
            <a:avLst/>
          </a:prstGeom>
          <a:ln w="17621">
            <a:solidFill>
              <a:srgbClr val="9A9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005 line"/>
          <p:cNvCxnSpPr/>
          <p:nvPr/>
        </p:nvCxnSpPr>
        <p:spPr>
          <a:xfrm flipH="1">
            <a:off x="1398843" y="7319730"/>
            <a:ext cx="152716" cy="123347"/>
          </a:xfrm>
          <a:prstGeom prst="line">
            <a:avLst/>
          </a:prstGeom>
          <a:ln w="17621">
            <a:solidFill>
              <a:srgbClr val="9A9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006 line"/>
          <p:cNvCxnSpPr/>
          <p:nvPr/>
        </p:nvCxnSpPr>
        <p:spPr>
          <a:xfrm flipH="1">
            <a:off x="1776718" y="7319730"/>
            <a:ext cx="152716" cy="123347"/>
          </a:xfrm>
          <a:prstGeom prst="line">
            <a:avLst/>
          </a:prstGeom>
          <a:ln w="17621">
            <a:solidFill>
              <a:srgbClr val="9A9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007 line"/>
          <p:cNvCxnSpPr/>
          <p:nvPr/>
        </p:nvCxnSpPr>
        <p:spPr>
          <a:xfrm flipH="1">
            <a:off x="2152635" y="7319730"/>
            <a:ext cx="152716" cy="123347"/>
          </a:xfrm>
          <a:prstGeom prst="line">
            <a:avLst/>
          </a:prstGeom>
          <a:ln w="17621">
            <a:solidFill>
              <a:srgbClr val="9A9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008 line"/>
          <p:cNvCxnSpPr/>
          <p:nvPr/>
        </p:nvCxnSpPr>
        <p:spPr>
          <a:xfrm flipH="1">
            <a:off x="2528552" y="7319730"/>
            <a:ext cx="152716" cy="123347"/>
          </a:xfrm>
          <a:prstGeom prst="line">
            <a:avLst/>
          </a:prstGeom>
          <a:ln w="17621">
            <a:solidFill>
              <a:srgbClr val="9A9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009 line"/>
          <p:cNvCxnSpPr/>
          <p:nvPr/>
        </p:nvCxnSpPr>
        <p:spPr>
          <a:xfrm flipH="1">
            <a:off x="2906427" y="7319730"/>
            <a:ext cx="152716" cy="123347"/>
          </a:xfrm>
          <a:prstGeom prst="line">
            <a:avLst/>
          </a:prstGeom>
          <a:ln w="17621">
            <a:solidFill>
              <a:srgbClr val="9A9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010 line"/>
          <p:cNvCxnSpPr/>
          <p:nvPr/>
        </p:nvCxnSpPr>
        <p:spPr>
          <a:xfrm flipH="1">
            <a:off x="3282343" y="7319730"/>
            <a:ext cx="152717" cy="123347"/>
          </a:xfrm>
          <a:prstGeom prst="line">
            <a:avLst/>
          </a:prstGeom>
          <a:ln w="17621">
            <a:solidFill>
              <a:srgbClr val="9A9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011 line"/>
          <p:cNvCxnSpPr/>
          <p:nvPr/>
        </p:nvCxnSpPr>
        <p:spPr>
          <a:xfrm flipH="1">
            <a:off x="3660218" y="7319730"/>
            <a:ext cx="152717" cy="123347"/>
          </a:xfrm>
          <a:prstGeom prst="line">
            <a:avLst/>
          </a:prstGeom>
          <a:ln w="17621">
            <a:solidFill>
              <a:srgbClr val="9A9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012 line"/>
          <p:cNvCxnSpPr/>
          <p:nvPr/>
        </p:nvCxnSpPr>
        <p:spPr>
          <a:xfrm flipH="1">
            <a:off x="4036135" y="7319730"/>
            <a:ext cx="152717" cy="123347"/>
          </a:xfrm>
          <a:prstGeom prst="line">
            <a:avLst/>
          </a:prstGeom>
          <a:ln w="17621">
            <a:solidFill>
              <a:srgbClr val="9A9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013 line"/>
          <p:cNvCxnSpPr/>
          <p:nvPr/>
        </p:nvCxnSpPr>
        <p:spPr>
          <a:xfrm flipH="1">
            <a:off x="4412052" y="7319730"/>
            <a:ext cx="152717" cy="123347"/>
          </a:xfrm>
          <a:prstGeom prst="line">
            <a:avLst/>
          </a:prstGeom>
          <a:ln w="17621">
            <a:solidFill>
              <a:srgbClr val="9A9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014 line"/>
          <p:cNvCxnSpPr/>
          <p:nvPr/>
        </p:nvCxnSpPr>
        <p:spPr>
          <a:xfrm flipH="1">
            <a:off x="4789927" y="7319730"/>
            <a:ext cx="152716" cy="123347"/>
          </a:xfrm>
          <a:prstGeom prst="line">
            <a:avLst/>
          </a:prstGeom>
          <a:ln w="17621">
            <a:solidFill>
              <a:srgbClr val="9A9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015 line"/>
          <p:cNvCxnSpPr/>
          <p:nvPr/>
        </p:nvCxnSpPr>
        <p:spPr>
          <a:xfrm flipH="1">
            <a:off x="5165844" y="7319730"/>
            <a:ext cx="152716" cy="123347"/>
          </a:xfrm>
          <a:prstGeom prst="line">
            <a:avLst/>
          </a:prstGeom>
          <a:ln w="17621">
            <a:solidFill>
              <a:srgbClr val="9A9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016 line"/>
          <p:cNvCxnSpPr/>
          <p:nvPr/>
        </p:nvCxnSpPr>
        <p:spPr>
          <a:xfrm flipH="1">
            <a:off x="5543719" y="7319730"/>
            <a:ext cx="152716" cy="123347"/>
          </a:xfrm>
          <a:prstGeom prst="line">
            <a:avLst/>
          </a:prstGeom>
          <a:ln w="17621">
            <a:solidFill>
              <a:srgbClr val="9A9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017 line"/>
          <p:cNvCxnSpPr/>
          <p:nvPr/>
        </p:nvCxnSpPr>
        <p:spPr>
          <a:xfrm flipH="1">
            <a:off x="5919636" y="7319730"/>
            <a:ext cx="152716" cy="123347"/>
          </a:xfrm>
          <a:prstGeom prst="line">
            <a:avLst/>
          </a:prstGeom>
          <a:ln w="17621">
            <a:solidFill>
              <a:srgbClr val="9A9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018 line"/>
          <p:cNvCxnSpPr/>
          <p:nvPr/>
        </p:nvCxnSpPr>
        <p:spPr>
          <a:xfrm flipH="1">
            <a:off x="6295553" y="7319730"/>
            <a:ext cx="152716" cy="123347"/>
          </a:xfrm>
          <a:prstGeom prst="line">
            <a:avLst/>
          </a:prstGeom>
          <a:ln w="17621">
            <a:solidFill>
              <a:srgbClr val="9A9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019 line"/>
          <p:cNvCxnSpPr/>
          <p:nvPr/>
        </p:nvCxnSpPr>
        <p:spPr>
          <a:xfrm flipH="1">
            <a:off x="6673428" y="7319730"/>
            <a:ext cx="152716" cy="123347"/>
          </a:xfrm>
          <a:prstGeom prst="line">
            <a:avLst/>
          </a:prstGeom>
          <a:ln w="17621">
            <a:solidFill>
              <a:srgbClr val="9A9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020 line"/>
          <p:cNvCxnSpPr/>
          <p:nvPr/>
        </p:nvCxnSpPr>
        <p:spPr>
          <a:xfrm flipH="1">
            <a:off x="7049345" y="7319730"/>
            <a:ext cx="152716" cy="123347"/>
          </a:xfrm>
          <a:prstGeom prst="line">
            <a:avLst/>
          </a:prstGeom>
          <a:ln w="17621">
            <a:solidFill>
              <a:srgbClr val="9A9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021 line"/>
          <p:cNvCxnSpPr/>
          <p:nvPr/>
        </p:nvCxnSpPr>
        <p:spPr>
          <a:xfrm flipH="1">
            <a:off x="7427220" y="7319730"/>
            <a:ext cx="152716" cy="123347"/>
          </a:xfrm>
          <a:prstGeom prst="line">
            <a:avLst/>
          </a:prstGeom>
          <a:ln w="17621">
            <a:solidFill>
              <a:srgbClr val="9A9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022 line"/>
          <p:cNvCxnSpPr/>
          <p:nvPr/>
        </p:nvCxnSpPr>
        <p:spPr>
          <a:xfrm flipH="1">
            <a:off x="7803137" y="7319730"/>
            <a:ext cx="152716" cy="123347"/>
          </a:xfrm>
          <a:prstGeom prst="line">
            <a:avLst/>
          </a:prstGeom>
          <a:ln w="17621">
            <a:solidFill>
              <a:srgbClr val="9A9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023 line"/>
          <p:cNvCxnSpPr/>
          <p:nvPr/>
        </p:nvCxnSpPr>
        <p:spPr>
          <a:xfrm flipH="1">
            <a:off x="8179054" y="7319730"/>
            <a:ext cx="152716" cy="123347"/>
          </a:xfrm>
          <a:prstGeom prst="line">
            <a:avLst/>
          </a:prstGeom>
          <a:ln w="17621">
            <a:solidFill>
              <a:srgbClr val="9A9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024 line"/>
          <p:cNvCxnSpPr/>
          <p:nvPr/>
        </p:nvCxnSpPr>
        <p:spPr>
          <a:xfrm flipH="1">
            <a:off x="8556928" y="7319730"/>
            <a:ext cx="152717" cy="123347"/>
          </a:xfrm>
          <a:prstGeom prst="line">
            <a:avLst/>
          </a:prstGeom>
          <a:ln w="17621">
            <a:solidFill>
              <a:srgbClr val="9A9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025 line"/>
          <p:cNvCxnSpPr/>
          <p:nvPr/>
        </p:nvCxnSpPr>
        <p:spPr>
          <a:xfrm flipH="1">
            <a:off x="8932845" y="7319730"/>
            <a:ext cx="152717" cy="123347"/>
          </a:xfrm>
          <a:prstGeom prst="line">
            <a:avLst/>
          </a:prstGeom>
          <a:ln w="17621">
            <a:solidFill>
              <a:srgbClr val="9A9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026 line"/>
          <p:cNvCxnSpPr/>
          <p:nvPr/>
        </p:nvCxnSpPr>
        <p:spPr>
          <a:xfrm flipH="1">
            <a:off x="9310720" y="7319730"/>
            <a:ext cx="152716" cy="123347"/>
          </a:xfrm>
          <a:prstGeom prst="line">
            <a:avLst/>
          </a:prstGeom>
          <a:ln w="17621">
            <a:solidFill>
              <a:srgbClr val="9A9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027 line"/>
          <p:cNvCxnSpPr/>
          <p:nvPr/>
        </p:nvCxnSpPr>
        <p:spPr>
          <a:xfrm flipH="1">
            <a:off x="9686637" y="7319730"/>
            <a:ext cx="152716" cy="123347"/>
          </a:xfrm>
          <a:prstGeom prst="line">
            <a:avLst/>
          </a:prstGeom>
          <a:ln w="17621">
            <a:solidFill>
              <a:srgbClr val="9A9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028 line"/>
          <p:cNvCxnSpPr/>
          <p:nvPr/>
        </p:nvCxnSpPr>
        <p:spPr>
          <a:xfrm flipH="1">
            <a:off x="10062554" y="7319730"/>
            <a:ext cx="152716" cy="123347"/>
          </a:xfrm>
          <a:prstGeom prst="line">
            <a:avLst/>
          </a:prstGeom>
          <a:ln w="17621">
            <a:solidFill>
              <a:srgbClr val="9A9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029 line"/>
          <p:cNvCxnSpPr/>
          <p:nvPr/>
        </p:nvCxnSpPr>
        <p:spPr>
          <a:xfrm flipH="1">
            <a:off x="10440429" y="7319730"/>
            <a:ext cx="152716" cy="123347"/>
          </a:xfrm>
          <a:prstGeom prst="line">
            <a:avLst/>
          </a:prstGeom>
          <a:ln w="17621">
            <a:solidFill>
              <a:srgbClr val="9A9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030 line"/>
          <p:cNvCxnSpPr/>
          <p:nvPr/>
        </p:nvCxnSpPr>
        <p:spPr>
          <a:xfrm flipH="1">
            <a:off x="10816346" y="7319730"/>
            <a:ext cx="152716" cy="123347"/>
          </a:xfrm>
          <a:prstGeom prst="line">
            <a:avLst/>
          </a:prstGeom>
          <a:ln w="17621">
            <a:solidFill>
              <a:srgbClr val="9A9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031 line"/>
          <p:cNvCxnSpPr/>
          <p:nvPr/>
        </p:nvCxnSpPr>
        <p:spPr>
          <a:xfrm flipH="1">
            <a:off x="11194221" y="7319730"/>
            <a:ext cx="152716" cy="123347"/>
          </a:xfrm>
          <a:prstGeom prst="line">
            <a:avLst/>
          </a:prstGeom>
          <a:ln w="17621">
            <a:solidFill>
              <a:srgbClr val="9A9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032 text: 북측 주차장 부지"/>
          <p:cNvSpPr txBox="1"/>
          <p:nvPr/>
        </p:nvSpPr>
        <p:spPr>
          <a:xfrm>
            <a:off x="218620" y="7492025"/>
            <a:ext cx="1424568" cy="22026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387" b="0">
                <a:solidFill>
                  <a:srgbClr val="61666D"/>
                </a:solidFill>
              </a:rPr>
              <a:t>북측 주차장 부지</a:t>
            </a:r>
          </a:p>
        </p:txBody>
      </p:sp>
      <p:sp>
        <p:nvSpPr>
          <p:cNvPr id="36" name="033 text: 남측 도로(보도)"/>
          <p:cNvSpPr txBox="1"/>
          <p:nvPr/>
        </p:nvSpPr>
        <p:spPr>
          <a:xfrm>
            <a:off x="10103278" y="7492025"/>
            <a:ext cx="1304745" cy="22026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387" b="0">
                <a:solidFill>
                  <a:srgbClr val="A86400"/>
                </a:solidFill>
              </a:rPr>
              <a:t>남측 도로(보도)</a:t>
            </a:r>
          </a:p>
        </p:txBody>
      </p:sp>
      <p:sp>
        <p:nvSpPr>
          <p:cNvPr id="37" name="034 rect"/>
          <p:cNvSpPr/>
          <p:nvPr/>
        </p:nvSpPr>
        <p:spPr>
          <a:xfrm>
            <a:off x="2050824" y="1886555"/>
            <a:ext cx="5472332" cy="4624561"/>
          </a:xfrm>
          <a:prstGeom prst="rect">
            <a:avLst/>
          </a:prstGeom>
          <a:solidFill>
            <a:srgbClr val="1F5F95">
              <a:alpha val="470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035 rect"/>
          <p:cNvSpPr/>
          <p:nvPr/>
        </p:nvSpPr>
        <p:spPr>
          <a:xfrm>
            <a:off x="2050824" y="6438674"/>
            <a:ext cx="5472332" cy="74400"/>
          </a:xfrm>
          <a:prstGeom prst="rect">
            <a:avLst/>
          </a:prstGeom>
          <a:solidFill>
            <a:srgbClr val="D8D4C8"/>
          </a:solidFill>
          <a:ln w="19383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036 rect"/>
          <p:cNvSpPr/>
          <p:nvPr/>
        </p:nvSpPr>
        <p:spPr>
          <a:xfrm>
            <a:off x="2050824" y="5557619"/>
            <a:ext cx="5472332" cy="74400"/>
          </a:xfrm>
          <a:prstGeom prst="rect">
            <a:avLst/>
          </a:prstGeom>
          <a:solidFill>
            <a:srgbClr val="D8D4C8"/>
          </a:solidFill>
          <a:ln w="19383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037 rect"/>
          <p:cNvSpPr/>
          <p:nvPr/>
        </p:nvSpPr>
        <p:spPr>
          <a:xfrm>
            <a:off x="2050824" y="4676563"/>
            <a:ext cx="5472332" cy="74400"/>
          </a:xfrm>
          <a:prstGeom prst="rect">
            <a:avLst/>
          </a:prstGeom>
          <a:solidFill>
            <a:srgbClr val="D8D4C8"/>
          </a:solidFill>
          <a:ln w="19383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038 rect"/>
          <p:cNvSpPr/>
          <p:nvPr/>
        </p:nvSpPr>
        <p:spPr>
          <a:xfrm>
            <a:off x="2050824" y="3795508"/>
            <a:ext cx="5472332" cy="74400"/>
          </a:xfrm>
          <a:prstGeom prst="rect">
            <a:avLst/>
          </a:prstGeom>
          <a:solidFill>
            <a:srgbClr val="D8D4C8"/>
          </a:solidFill>
          <a:ln w="19383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039 rect"/>
          <p:cNvSpPr/>
          <p:nvPr/>
        </p:nvSpPr>
        <p:spPr>
          <a:xfrm>
            <a:off x="2050824" y="1947250"/>
            <a:ext cx="5472332" cy="86147"/>
          </a:xfrm>
          <a:prstGeom prst="rect">
            <a:avLst/>
          </a:prstGeom>
          <a:solidFill>
            <a:srgbClr val="D8D4C8"/>
          </a:solidFill>
          <a:ln w="19383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040 line"/>
          <p:cNvCxnSpPr/>
          <p:nvPr/>
        </p:nvCxnSpPr>
        <p:spPr>
          <a:xfrm flipV="1">
            <a:off x="2050824" y="1886555"/>
            <a:ext cx="0" cy="4624562"/>
          </a:xfrm>
          <a:prstGeom prst="line">
            <a:avLst/>
          </a:prstGeom>
          <a:ln w="3524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041 line"/>
          <p:cNvCxnSpPr/>
          <p:nvPr/>
        </p:nvCxnSpPr>
        <p:spPr>
          <a:xfrm flipV="1">
            <a:off x="7523157" y="1886555"/>
            <a:ext cx="0" cy="4624562"/>
          </a:xfrm>
          <a:prstGeom prst="line">
            <a:avLst/>
          </a:prstGeom>
          <a:ln w="3524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042 line"/>
          <p:cNvCxnSpPr/>
          <p:nvPr/>
        </p:nvCxnSpPr>
        <p:spPr>
          <a:xfrm>
            <a:off x="2050824" y="1886555"/>
            <a:ext cx="5472333" cy="0"/>
          </a:xfrm>
          <a:prstGeom prst="line">
            <a:avLst/>
          </a:prstGeom>
          <a:ln w="3876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043 rect"/>
          <p:cNvSpPr/>
          <p:nvPr/>
        </p:nvSpPr>
        <p:spPr>
          <a:xfrm>
            <a:off x="1719939" y="2522873"/>
            <a:ext cx="2265291" cy="4796857"/>
          </a:xfrm>
          <a:prstGeom prst="rect">
            <a:avLst/>
          </a:prstGeom>
          <a:solidFill>
            <a:srgbClr val="EFECE4"/>
          </a:solidFill>
          <a:ln w="35242">
            <a:solidFill>
              <a:srgbClr val="1F5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044 rect"/>
          <p:cNvSpPr/>
          <p:nvPr/>
        </p:nvSpPr>
        <p:spPr>
          <a:xfrm>
            <a:off x="1872655" y="2522873"/>
            <a:ext cx="967203" cy="4796857"/>
          </a:xfrm>
          <a:prstGeom prst="rect">
            <a:avLst/>
          </a:prstGeom>
          <a:noFill/>
          <a:ln w="17621">
            <a:solidFill>
              <a:srgbClr val="61666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045 text: EV 타워"/>
          <p:cNvSpPr txBox="1"/>
          <p:nvPr/>
        </p:nvSpPr>
        <p:spPr>
          <a:xfrm>
            <a:off x="2461591" y="3049548"/>
            <a:ext cx="705627" cy="22026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387" b="1">
                <a:solidFill>
                  <a:srgbClr val="1F5F95"/>
                </a:solidFill>
              </a:rPr>
              <a:t>EV 타워</a:t>
            </a:r>
          </a:p>
        </p:txBody>
      </p:sp>
      <p:sp>
        <p:nvSpPr>
          <p:cNvPr id="49" name="046 text: (승강기탑)"/>
          <p:cNvSpPr txBox="1"/>
          <p:nvPr/>
        </p:nvSpPr>
        <p:spPr>
          <a:xfrm>
            <a:off x="2434572" y="3369665"/>
            <a:ext cx="759665" cy="1835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56" b="0">
                <a:solidFill>
                  <a:srgbClr val="61666D"/>
                </a:solidFill>
              </a:rPr>
              <a:t>(승강기탑)</a:t>
            </a:r>
          </a:p>
        </p:txBody>
      </p:sp>
      <p:sp>
        <p:nvSpPr>
          <p:cNvPr id="50" name="047 rect"/>
          <p:cNvSpPr/>
          <p:nvPr/>
        </p:nvSpPr>
        <p:spPr>
          <a:xfrm>
            <a:off x="7777684" y="1837607"/>
            <a:ext cx="1628973" cy="5482122"/>
          </a:xfrm>
          <a:prstGeom prst="rect">
            <a:avLst/>
          </a:prstGeom>
          <a:solidFill>
            <a:srgbClr val="EFECE4"/>
          </a:solidFill>
          <a:ln w="35242">
            <a:solidFill>
              <a:srgbClr val="1F5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048 text: 계단탑"/>
          <p:cNvSpPr txBox="1"/>
          <p:nvPr/>
        </p:nvSpPr>
        <p:spPr>
          <a:xfrm>
            <a:off x="8288696" y="2853758"/>
            <a:ext cx="606949" cy="22026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387" b="1">
                <a:solidFill>
                  <a:srgbClr val="1F5F95"/>
                </a:solidFill>
              </a:rPr>
              <a:t>계단탑</a:t>
            </a:r>
          </a:p>
        </p:txBody>
      </p:sp>
      <p:sp>
        <p:nvSpPr>
          <p:cNvPr id="52" name="049 text: (옥상 출입)"/>
          <p:cNvSpPr txBox="1"/>
          <p:nvPr/>
        </p:nvSpPr>
        <p:spPr>
          <a:xfrm>
            <a:off x="8188843" y="3173875"/>
            <a:ext cx="806655" cy="1835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56" b="0">
                <a:solidFill>
                  <a:srgbClr val="61666D"/>
                </a:solidFill>
              </a:rPr>
              <a:t>(옥상 출입)</a:t>
            </a:r>
          </a:p>
        </p:txBody>
      </p:sp>
      <p:sp>
        <p:nvSpPr>
          <p:cNvPr id="53" name="050 rect"/>
          <p:cNvSpPr/>
          <p:nvPr/>
        </p:nvSpPr>
        <p:spPr>
          <a:xfrm>
            <a:off x="7523157" y="1886555"/>
            <a:ext cx="254527" cy="5433174"/>
          </a:xfrm>
          <a:prstGeom prst="rect">
            <a:avLst/>
          </a:prstGeom>
          <a:solidFill>
            <a:srgbClr val="0097B2">
              <a:alpha val="6666"/>
            </a:srgbClr>
          </a:solidFill>
          <a:ln w="17621">
            <a:solidFill>
              <a:srgbClr val="0097B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051 line"/>
          <p:cNvCxnSpPr/>
          <p:nvPr/>
        </p:nvCxnSpPr>
        <p:spPr>
          <a:xfrm flipV="1">
            <a:off x="7574062" y="2009903"/>
            <a:ext cx="0" cy="5237384"/>
          </a:xfrm>
          <a:prstGeom prst="line">
            <a:avLst/>
          </a:prstGeom>
          <a:ln w="19383">
            <a:solidFill>
              <a:srgbClr val="009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052 line"/>
          <p:cNvCxnSpPr/>
          <p:nvPr/>
        </p:nvCxnSpPr>
        <p:spPr>
          <a:xfrm flipV="1">
            <a:off x="7650420" y="2009903"/>
            <a:ext cx="0" cy="5237384"/>
          </a:xfrm>
          <a:prstGeom prst="line">
            <a:avLst/>
          </a:prstGeom>
          <a:ln w="19383">
            <a:solidFill>
              <a:srgbClr val="009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053 line"/>
          <p:cNvCxnSpPr/>
          <p:nvPr/>
        </p:nvCxnSpPr>
        <p:spPr>
          <a:xfrm flipV="1">
            <a:off x="7726778" y="2009903"/>
            <a:ext cx="0" cy="5237384"/>
          </a:xfrm>
          <a:prstGeom prst="line">
            <a:avLst/>
          </a:prstGeom>
          <a:ln w="19383">
            <a:solidFill>
              <a:srgbClr val="009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054 text: 설비 슬롯 0.5m"/>
          <p:cNvSpPr txBox="1"/>
          <p:nvPr/>
        </p:nvSpPr>
        <p:spPr>
          <a:xfrm>
            <a:off x="7082629" y="1549796"/>
            <a:ext cx="1135582" cy="1957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33" b="1">
                <a:solidFill>
                  <a:srgbClr val="0097B2"/>
                </a:solidFill>
              </a:rPr>
              <a:t>설비 슬롯 0.5m</a:t>
            </a:r>
          </a:p>
        </p:txBody>
      </p:sp>
      <p:sp>
        <p:nvSpPr>
          <p:cNvPr id="58" name="055 rect"/>
          <p:cNvSpPr/>
          <p:nvPr/>
        </p:nvSpPr>
        <p:spPr>
          <a:xfrm>
            <a:off x="2050824" y="6511117"/>
            <a:ext cx="305432" cy="806655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056 rect"/>
          <p:cNvSpPr/>
          <p:nvPr/>
        </p:nvSpPr>
        <p:spPr>
          <a:xfrm>
            <a:off x="3934324" y="6511117"/>
            <a:ext cx="305432" cy="806655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057 rect"/>
          <p:cNvSpPr/>
          <p:nvPr/>
        </p:nvSpPr>
        <p:spPr>
          <a:xfrm>
            <a:off x="7294082" y="6511117"/>
            <a:ext cx="305432" cy="806655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058 rect"/>
          <p:cNvSpPr/>
          <p:nvPr/>
        </p:nvSpPr>
        <p:spPr>
          <a:xfrm>
            <a:off x="1796297" y="6939897"/>
            <a:ext cx="2138027" cy="305432"/>
          </a:xfrm>
          <a:prstGeom prst="roundRect">
            <a:avLst>
              <a:gd name="adj" fmla="val 44871"/>
            </a:avLst>
          </a:prstGeom>
          <a:solidFill>
            <a:srgbClr val="FFFFFF"/>
          </a:solidFill>
          <a:ln w="21145">
            <a:solidFill>
              <a:srgbClr val="616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059 circle"/>
          <p:cNvSpPr/>
          <p:nvPr/>
        </p:nvSpPr>
        <p:spPr>
          <a:xfrm>
            <a:off x="2166340" y="7159182"/>
            <a:ext cx="176211" cy="176211"/>
          </a:xfrm>
          <a:prstGeom prst="ellipse">
            <a:avLst/>
          </a:prstGeom>
          <a:solidFill>
            <a:srgbClr val="616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060 circle"/>
          <p:cNvSpPr/>
          <p:nvPr/>
        </p:nvSpPr>
        <p:spPr>
          <a:xfrm>
            <a:off x="3388070" y="7159182"/>
            <a:ext cx="176211" cy="176211"/>
          </a:xfrm>
          <a:prstGeom prst="ellipse">
            <a:avLst/>
          </a:prstGeom>
          <a:solidFill>
            <a:srgbClr val="616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061 rect"/>
          <p:cNvSpPr/>
          <p:nvPr/>
        </p:nvSpPr>
        <p:spPr>
          <a:xfrm>
            <a:off x="4697906" y="6939897"/>
            <a:ext cx="2138027" cy="305432"/>
          </a:xfrm>
          <a:prstGeom prst="roundRect">
            <a:avLst>
              <a:gd name="adj" fmla="val 44871"/>
            </a:avLst>
          </a:prstGeom>
          <a:solidFill>
            <a:srgbClr val="FFFFFF"/>
          </a:solidFill>
          <a:ln w="21145">
            <a:solidFill>
              <a:srgbClr val="616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062 circle"/>
          <p:cNvSpPr/>
          <p:nvPr/>
        </p:nvSpPr>
        <p:spPr>
          <a:xfrm>
            <a:off x="5067949" y="7159182"/>
            <a:ext cx="176211" cy="176211"/>
          </a:xfrm>
          <a:prstGeom prst="ellipse">
            <a:avLst/>
          </a:prstGeom>
          <a:solidFill>
            <a:srgbClr val="616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063 circle"/>
          <p:cNvSpPr/>
          <p:nvPr/>
        </p:nvSpPr>
        <p:spPr>
          <a:xfrm>
            <a:off x="6289679" y="7159182"/>
            <a:ext cx="176211" cy="176211"/>
          </a:xfrm>
          <a:prstGeom prst="ellipse">
            <a:avLst/>
          </a:prstGeom>
          <a:solidFill>
            <a:srgbClr val="616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064 text: 차로 6.0m — 유효 2.8m (보 650"/>
          <p:cNvSpPr txBox="1"/>
          <p:nvPr/>
        </p:nvSpPr>
        <p:spPr>
          <a:xfrm>
            <a:off x="4434764" y="7055413"/>
            <a:ext cx="2664311" cy="1957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33" b="0">
                <a:solidFill>
                  <a:srgbClr val="61666D"/>
                </a:solidFill>
              </a:rPr>
              <a:t>차로 6.0m — 유효 2.8m (보 650 하부)</a:t>
            </a:r>
          </a:p>
        </p:txBody>
      </p:sp>
      <p:sp>
        <p:nvSpPr>
          <p:cNvPr id="68" name="065 text: 주차"/>
          <p:cNvSpPr txBox="1"/>
          <p:nvPr/>
        </p:nvSpPr>
        <p:spPr>
          <a:xfrm>
            <a:off x="2771331" y="6470001"/>
            <a:ext cx="391580" cy="1957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33" b="0">
                <a:solidFill>
                  <a:srgbClr val="61666D"/>
                </a:solidFill>
              </a:rPr>
              <a:t>주차</a:t>
            </a:r>
          </a:p>
        </p:txBody>
      </p:sp>
      <p:sp>
        <p:nvSpPr>
          <p:cNvPr id="69" name="066 text: 2F — 다음세대 · 그물놀이터 (층고 3."/>
          <p:cNvSpPr txBox="1"/>
          <p:nvPr/>
        </p:nvSpPr>
        <p:spPr>
          <a:xfrm>
            <a:off x="3158164" y="5905146"/>
            <a:ext cx="3283106" cy="232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64" b="1">
                <a:solidFill>
                  <a:srgbClr val="111111"/>
                </a:solidFill>
              </a:rPr>
              <a:t>2F — 다음세대 · 그물놀이터 (층고 3.6)</a:t>
            </a:r>
          </a:p>
        </p:txBody>
      </p:sp>
      <p:sp>
        <p:nvSpPr>
          <p:cNvPr id="70" name="067 text: 3F — 소예배실 · 목양실 (3.6)"/>
          <p:cNvSpPr txBox="1"/>
          <p:nvPr/>
        </p:nvSpPr>
        <p:spPr>
          <a:xfrm>
            <a:off x="3559925" y="5024091"/>
            <a:ext cx="2479583" cy="232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64" b="1">
                <a:solidFill>
                  <a:srgbClr val="111111"/>
                </a:solidFill>
              </a:rPr>
              <a:t>3F — 소예배실 · 목양실 (3.6)</a:t>
            </a:r>
          </a:p>
        </p:txBody>
      </p:sp>
      <p:sp>
        <p:nvSpPr>
          <p:cNvPr id="71" name="068 text: 4F — 식당 · 카페 (3.6)"/>
          <p:cNvSpPr txBox="1"/>
          <p:nvPr/>
        </p:nvSpPr>
        <p:spPr>
          <a:xfrm>
            <a:off x="3838926" y="4143035"/>
            <a:ext cx="1921581" cy="232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64" b="1">
                <a:solidFill>
                  <a:srgbClr val="111111"/>
                </a:solidFill>
              </a:rPr>
              <a:t>4F — 식당 · 카페 (3.6)</a:t>
            </a:r>
          </a:p>
        </p:txBody>
      </p:sp>
      <p:sp>
        <p:nvSpPr>
          <p:cNvPr id="72" name="069 text: 5F — 대예배실 (층고 7.2 · 트러스 "/>
          <p:cNvSpPr txBox="1"/>
          <p:nvPr/>
        </p:nvSpPr>
        <p:spPr>
          <a:xfrm>
            <a:off x="3128404" y="3261980"/>
            <a:ext cx="3342626" cy="232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64" b="1">
                <a:solidFill>
                  <a:srgbClr val="111111"/>
                </a:solidFill>
              </a:rPr>
              <a:t>5F — 대예배실 (층고 7.2 · 트러스 무주)</a:t>
            </a:r>
          </a:p>
        </p:txBody>
      </p:sp>
      <p:sp>
        <p:nvSpPr>
          <p:cNvPr id="73" name="070 text: RF — 설비(가림) · 법정 조경 · 총고"/>
          <p:cNvSpPr txBox="1"/>
          <p:nvPr/>
        </p:nvSpPr>
        <p:spPr>
          <a:xfrm>
            <a:off x="3201188" y="1615385"/>
            <a:ext cx="3197056" cy="2080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310" b="1">
                <a:solidFill>
                  <a:srgbClr val="61666D"/>
                </a:solidFill>
              </a:rPr>
              <a:t>RF — 설비(가림) · 법정 조경 · 총고 약 22m</a:t>
            </a:r>
          </a:p>
        </p:txBody>
      </p:sp>
      <p:sp>
        <p:nvSpPr>
          <p:cNvPr id="74" name="071 polyline"/>
          <p:cNvSpPr/>
          <p:nvPr/>
        </p:nvSpPr>
        <p:spPr>
          <a:xfrm>
            <a:off x="2050824" y="2131292"/>
            <a:ext cx="5472333" cy="440528"/>
          </a:xfrm>
          <a:custGeom>
            <a:avLst/>
            <a:gdLst/>
            <a:ahLst/>
            <a:cxnLst/>
            <a:rect l="l" t="t" r="r" b="b"/>
            <a:pathLst>
              <a:path w="5472333" h="440528">
                <a:moveTo>
                  <a:pt x="0" y="0"/>
                </a:moveTo>
                <a:lnTo>
                  <a:pt x="546254" y="440528"/>
                </a:lnTo>
                <a:lnTo>
                  <a:pt x="1094466" y="0"/>
                </a:lnTo>
                <a:lnTo>
                  <a:pt x="1640721" y="440528"/>
                </a:lnTo>
                <a:lnTo>
                  <a:pt x="2188933" y="0"/>
                </a:lnTo>
                <a:lnTo>
                  <a:pt x="2737145" y="440528"/>
                </a:lnTo>
                <a:lnTo>
                  <a:pt x="3283400" y="0"/>
                </a:lnTo>
                <a:lnTo>
                  <a:pt x="3831612" y="440528"/>
                </a:lnTo>
                <a:lnTo>
                  <a:pt x="4377866" y="0"/>
                </a:lnTo>
                <a:lnTo>
                  <a:pt x="4924120" y="440528"/>
                </a:lnTo>
                <a:lnTo>
                  <a:pt x="5472333" y="0"/>
                </a:lnTo>
              </a:path>
            </a:pathLst>
          </a:custGeom>
          <a:noFill/>
          <a:ln w="19383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072 line"/>
          <p:cNvCxnSpPr/>
          <p:nvPr/>
        </p:nvCxnSpPr>
        <p:spPr>
          <a:xfrm>
            <a:off x="2050824" y="2571820"/>
            <a:ext cx="5472333" cy="0"/>
          </a:xfrm>
          <a:prstGeom prst="line">
            <a:avLst/>
          </a:prstGeom>
          <a:ln w="193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073 line"/>
          <p:cNvCxnSpPr/>
          <p:nvPr/>
        </p:nvCxnSpPr>
        <p:spPr>
          <a:xfrm>
            <a:off x="9635732" y="7319730"/>
            <a:ext cx="254527" cy="0"/>
          </a:xfrm>
          <a:prstGeom prst="line">
            <a:avLst/>
          </a:prstGeom>
          <a:ln w="17621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074 line"/>
          <p:cNvCxnSpPr/>
          <p:nvPr/>
        </p:nvCxnSpPr>
        <p:spPr>
          <a:xfrm>
            <a:off x="9635732" y="6438674"/>
            <a:ext cx="254527" cy="0"/>
          </a:xfrm>
          <a:prstGeom prst="line">
            <a:avLst/>
          </a:prstGeom>
          <a:ln w="17621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075 line"/>
          <p:cNvCxnSpPr/>
          <p:nvPr/>
        </p:nvCxnSpPr>
        <p:spPr>
          <a:xfrm>
            <a:off x="9635732" y="5557619"/>
            <a:ext cx="254527" cy="0"/>
          </a:xfrm>
          <a:prstGeom prst="line">
            <a:avLst/>
          </a:prstGeom>
          <a:ln w="17621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076 line"/>
          <p:cNvCxnSpPr/>
          <p:nvPr/>
        </p:nvCxnSpPr>
        <p:spPr>
          <a:xfrm>
            <a:off x="9635732" y="4676563"/>
            <a:ext cx="254527" cy="0"/>
          </a:xfrm>
          <a:prstGeom prst="line">
            <a:avLst/>
          </a:prstGeom>
          <a:ln w="17621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077 line"/>
          <p:cNvCxnSpPr/>
          <p:nvPr/>
        </p:nvCxnSpPr>
        <p:spPr>
          <a:xfrm>
            <a:off x="9635732" y="3795508"/>
            <a:ext cx="254527" cy="0"/>
          </a:xfrm>
          <a:prstGeom prst="line">
            <a:avLst/>
          </a:prstGeom>
          <a:ln w="17621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078 line"/>
          <p:cNvCxnSpPr/>
          <p:nvPr/>
        </p:nvCxnSpPr>
        <p:spPr>
          <a:xfrm flipV="1">
            <a:off x="9762995" y="3795508"/>
            <a:ext cx="0" cy="3524222"/>
          </a:xfrm>
          <a:prstGeom prst="line">
            <a:avLst/>
          </a:prstGeom>
          <a:ln w="17621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079 text: 3.6"/>
          <p:cNvSpPr txBox="1"/>
          <p:nvPr/>
        </p:nvSpPr>
        <p:spPr>
          <a:xfrm>
            <a:off x="10085266" y="6812633"/>
            <a:ext cx="322662" cy="1957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33" b="0">
                <a:solidFill>
                  <a:srgbClr val="61666D"/>
                </a:solidFill>
              </a:rPr>
              <a:t>3.6</a:t>
            </a:r>
          </a:p>
        </p:txBody>
      </p:sp>
      <p:sp>
        <p:nvSpPr>
          <p:cNvPr id="83" name="080 text: 3.6"/>
          <p:cNvSpPr txBox="1"/>
          <p:nvPr/>
        </p:nvSpPr>
        <p:spPr>
          <a:xfrm>
            <a:off x="10085266" y="5931578"/>
            <a:ext cx="322662" cy="1957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33" b="0">
                <a:solidFill>
                  <a:srgbClr val="61666D"/>
                </a:solidFill>
              </a:rPr>
              <a:t>3.6</a:t>
            </a:r>
          </a:p>
        </p:txBody>
      </p:sp>
      <p:sp>
        <p:nvSpPr>
          <p:cNvPr id="84" name="081 text: 3.6"/>
          <p:cNvSpPr txBox="1"/>
          <p:nvPr/>
        </p:nvSpPr>
        <p:spPr>
          <a:xfrm>
            <a:off x="10085266" y="5050523"/>
            <a:ext cx="322662" cy="1957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33" b="0">
                <a:solidFill>
                  <a:srgbClr val="61666D"/>
                </a:solidFill>
              </a:rPr>
              <a:t>3.6</a:t>
            </a:r>
          </a:p>
        </p:txBody>
      </p:sp>
      <p:sp>
        <p:nvSpPr>
          <p:cNvPr id="85" name="082 text: 3.6"/>
          <p:cNvSpPr txBox="1"/>
          <p:nvPr/>
        </p:nvSpPr>
        <p:spPr>
          <a:xfrm>
            <a:off x="10085266" y="4169467"/>
            <a:ext cx="322662" cy="1957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33" b="0">
                <a:solidFill>
                  <a:srgbClr val="61666D"/>
                </a:solidFill>
              </a:rPr>
              <a:t>3.6</a:t>
            </a:r>
          </a:p>
        </p:txBody>
      </p:sp>
      <p:cxnSp>
        <p:nvCxnSpPr>
          <p:cNvPr id="86" name="083 line"/>
          <p:cNvCxnSpPr/>
          <p:nvPr/>
        </p:nvCxnSpPr>
        <p:spPr>
          <a:xfrm>
            <a:off x="9635732" y="2033397"/>
            <a:ext cx="254527" cy="0"/>
          </a:xfrm>
          <a:prstGeom prst="line">
            <a:avLst/>
          </a:prstGeom>
          <a:ln w="17621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084 line"/>
          <p:cNvCxnSpPr/>
          <p:nvPr/>
        </p:nvCxnSpPr>
        <p:spPr>
          <a:xfrm flipV="1">
            <a:off x="9762995" y="2033397"/>
            <a:ext cx="0" cy="1762111"/>
          </a:xfrm>
          <a:prstGeom prst="line">
            <a:avLst/>
          </a:prstGeom>
          <a:ln w="17621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085 text: 7.2"/>
          <p:cNvSpPr txBox="1"/>
          <p:nvPr/>
        </p:nvSpPr>
        <p:spPr>
          <a:xfrm>
            <a:off x="10085266" y="2847884"/>
            <a:ext cx="322662" cy="1957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33" b="0">
                <a:solidFill>
                  <a:srgbClr val="61666D"/>
                </a:solidFill>
              </a:rPr>
              <a:t>7.2</a:t>
            </a:r>
          </a:p>
        </p:txBody>
      </p:sp>
      <p:sp>
        <p:nvSpPr>
          <p:cNvPr id="89" name="086 text: 1F 바닥 EL ≈ 22.3 · 층고 3.6"/>
          <p:cNvSpPr txBox="1"/>
          <p:nvPr/>
        </p:nvSpPr>
        <p:spPr>
          <a:xfrm>
            <a:off x="1592675" y="7740678"/>
            <a:ext cx="5742131" cy="1957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33" b="0">
                <a:solidFill>
                  <a:srgbClr val="9A958A"/>
                </a:solidFill>
              </a:rPr>
              <a:t>1F 바닥 EL ≈ 22.3 · 층고 3.6 = 유로폼 1200×3 무보정 스택 · 계단 21단×171mm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20040" y="8567928"/>
            <a:ext cx="11521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F6C66"/>
                </a:solidFill>
              </a:rPr>
              <a:t>주의: 원본 단면은 세로가 축약된 도면(가로 1m=26px, 세로 1m=12.5px) — 세로 비례가 실제의 약 1/2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</a:rPr>
              <a:t>기준층 평면 — 2~4F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6C66"/>
                </a:solidFill>
              </a:rPr>
              <a:t>동측 복도 2.3m · 화장실(서측 전실 띠) · 대공간 ≈135㎡(41평) · 내부 기둥 3본(v5.2 열) · 4F 주방 존(점선)</a:t>
            </a:r>
          </a:p>
        </p:txBody>
      </p:sp>
      <p:sp>
        <p:nvSpPr>
          <p:cNvPr id="4" name="001 text: 기준층 평면 (2~4F) — 전실 띠에 화장"/>
          <p:cNvSpPr txBox="1"/>
          <p:nvPr/>
        </p:nvSpPr>
        <p:spPr>
          <a:xfrm>
            <a:off x="2567339" y="1286099"/>
            <a:ext cx="2771349" cy="1722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85" b="1">
                <a:solidFill>
                  <a:srgbClr val="111111"/>
                </a:solidFill>
              </a:rPr>
              <a:t>기준층 평면 (2~4F) — 전실 띠에 화장실 통합</a:t>
            </a:r>
          </a:p>
        </p:txBody>
      </p:sp>
      <p:sp>
        <p:nvSpPr>
          <p:cNvPr id="5" name="002 rect"/>
          <p:cNvSpPr/>
          <p:nvPr/>
        </p:nvSpPr>
        <p:spPr>
          <a:xfrm>
            <a:off x="3375955" y="2549562"/>
            <a:ext cx="6358665" cy="3951194"/>
          </a:xfrm>
          <a:prstGeom prst="rect">
            <a:avLst/>
          </a:prstGeom>
          <a:noFill/>
          <a:ln w="49619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003 rect"/>
          <p:cNvSpPr/>
          <p:nvPr/>
        </p:nvSpPr>
        <p:spPr>
          <a:xfrm>
            <a:off x="8852494" y="2310652"/>
            <a:ext cx="882127" cy="1635610"/>
          </a:xfrm>
          <a:prstGeom prst="rect">
            <a:avLst/>
          </a:prstGeom>
          <a:noFill/>
          <a:ln w="33079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004 rect"/>
          <p:cNvSpPr/>
          <p:nvPr/>
        </p:nvSpPr>
        <p:spPr>
          <a:xfrm>
            <a:off x="8907627" y="2365785"/>
            <a:ext cx="771861" cy="771861"/>
          </a:xfrm>
          <a:prstGeom prst="rect">
            <a:avLst/>
          </a:prstGeom>
          <a:solidFill>
            <a:srgbClr val="FFFFFF"/>
          </a:solidFill>
          <a:ln w="33079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005 line"/>
          <p:cNvCxnSpPr/>
          <p:nvPr/>
        </p:nvCxnSpPr>
        <p:spPr>
          <a:xfrm>
            <a:off x="8907627" y="2365785"/>
            <a:ext cx="771861" cy="771862"/>
          </a:xfrm>
          <a:prstGeom prst="line">
            <a:avLst/>
          </a:prstGeom>
          <a:ln w="826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006 line"/>
          <p:cNvCxnSpPr/>
          <p:nvPr/>
        </p:nvCxnSpPr>
        <p:spPr>
          <a:xfrm flipV="1">
            <a:off x="8907627" y="2365785"/>
            <a:ext cx="771861" cy="771862"/>
          </a:xfrm>
          <a:prstGeom prst="line">
            <a:avLst/>
          </a:prstGeom>
          <a:ln w="826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007 text: EV"/>
          <p:cNvSpPr txBox="1"/>
          <p:nvPr/>
        </p:nvSpPr>
        <p:spPr>
          <a:xfrm>
            <a:off x="9206815" y="2744365"/>
            <a:ext cx="173484" cy="1378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68" b="1">
                <a:solidFill>
                  <a:srgbClr val="111111"/>
                </a:solidFill>
              </a:rPr>
              <a:t>EV</a:t>
            </a:r>
          </a:p>
        </p:txBody>
      </p:sp>
      <p:sp>
        <p:nvSpPr>
          <p:cNvPr id="11" name="008 text: EV홀(1F)·착상"/>
          <p:cNvSpPr txBox="1"/>
          <p:nvPr/>
        </p:nvSpPr>
        <p:spPr>
          <a:xfrm>
            <a:off x="9038476" y="3641194"/>
            <a:ext cx="510163" cy="918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578" b="0">
                <a:solidFill>
                  <a:srgbClr val="61666D"/>
                </a:solidFill>
              </a:rPr>
              <a:t>EV홀(1F)·착상</a:t>
            </a:r>
          </a:p>
        </p:txBody>
      </p:sp>
      <p:cxnSp>
        <p:nvCxnSpPr>
          <p:cNvPr id="12" name="009 line"/>
          <p:cNvCxnSpPr/>
          <p:nvPr/>
        </p:nvCxnSpPr>
        <p:spPr>
          <a:xfrm>
            <a:off x="9036271" y="3946263"/>
            <a:ext cx="349175" cy="0"/>
          </a:xfrm>
          <a:prstGeom prst="line">
            <a:avLst/>
          </a:prstGeom>
          <a:ln w="49619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010 line"/>
          <p:cNvCxnSpPr/>
          <p:nvPr/>
        </p:nvCxnSpPr>
        <p:spPr>
          <a:xfrm>
            <a:off x="9036271" y="3946263"/>
            <a:ext cx="349175" cy="0"/>
          </a:xfrm>
          <a:prstGeom prst="line">
            <a:avLst/>
          </a:prstGeom>
          <a:ln w="11577">
            <a:solidFill>
              <a:srgbClr val="9A95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011 rect"/>
          <p:cNvSpPr/>
          <p:nvPr/>
        </p:nvSpPr>
        <p:spPr>
          <a:xfrm>
            <a:off x="7676325" y="6684532"/>
            <a:ext cx="2058296" cy="1176169"/>
          </a:xfrm>
          <a:prstGeom prst="rect">
            <a:avLst/>
          </a:prstGeom>
          <a:noFill/>
          <a:ln w="33079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012 rect"/>
          <p:cNvSpPr/>
          <p:nvPr/>
        </p:nvSpPr>
        <p:spPr>
          <a:xfrm>
            <a:off x="7749835" y="6758043"/>
            <a:ext cx="1911275" cy="1029148"/>
          </a:xfrm>
          <a:prstGeom prst="rect">
            <a:avLst/>
          </a:prstGeom>
          <a:solidFill>
            <a:srgbClr val="FFFFFF"/>
          </a:solidFill>
          <a:ln w="33079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013 line"/>
          <p:cNvCxnSpPr/>
          <p:nvPr/>
        </p:nvCxnSpPr>
        <p:spPr>
          <a:xfrm>
            <a:off x="7749835" y="7272617"/>
            <a:ext cx="1433457" cy="0"/>
          </a:xfrm>
          <a:prstGeom prst="line">
            <a:avLst/>
          </a:prstGeom>
          <a:ln w="992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014 line"/>
          <p:cNvCxnSpPr/>
          <p:nvPr/>
        </p:nvCxnSpPr>
        <p:spPr>
          <a:xfrm>
            <a:off x="9183292" y="6758043"/>
            <a:ext cx="0" cy="1029148"/>
          </a:xfrm>
          <a:prstGeom prst="line">
            <a:avLst/>
          </a:prstGeom>
          <a:ln w="992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015 line"/>
          <p:cNvCxnSpPr/>
          <p:nvPr/>
        </p:nvCxnSpPr>
        <p:spPr>
          <a:xfrm>
            <a:off x="7860101" y="6758043"/>
            <a:ext cx="0" cy="1029148"/>
          </a:xfrm>
          <a:prstGeom prst="line">
            <a:avLst/>
          </a:prstGeom>
          <a:ln w="661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016 line"/>
          <p:cNvCxnSpPr/>
          <p:nvPr/>
        </p:nvCxnSpPr>
        <p:spPr>
          <a:xfrm>
            <a:off x="7970367" y="6758043"/>
            <a:ext cx="0" cy="1029148"/>
          </a:xfrm>
          <a:prstGeom prst="line">
            <a:avLst/>
          </a:prstGeom>
          <a:ln w="661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017 line"/>
          <p:cNvCxnSpPr/>
          <p:nvPr/>
        </p:nvCxnSpPr>
        <p:spPr>
          <a:xfrm>
            <a:off x="8080633" y="6758043"/>
            <a:ext cx="0" cy="1029148"/>
          </a:xfrm>
          <a:prstGeom prst="line">
            <a:avLst/>
          </a:prstGeom>
          <a:ln w="661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018 line"/>
          <p:cNvCxnSpPr/>
          <p:nvPr/>
        </p:nvCxnSpPr>
        <p:spPr>
          <a:xfrm>
            <a:off x="8190899" y="6758043"/>
            <a:ext cx="0" cy="1029148"/>
          </a:xfrm>
          <a:prstGeom prst="line">
            <a:avLst/>
          </a:prstGeom>
          <a:ln w="661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019 line"/>
          <p:cNvCxnSpPr/>
          <p:nvPr/>
        </p:nvCxnSpPr>
        <p:spPr>
          <a:xfrm>
            <a:off x="8301165" y="6758043"/>
            <a:ext cx="0" cy="1029148"/>
          </a:xfrm>
          <a:prstGeom prst="line">
            <a:avLst/>
          </a:prstGeom>
          <a:ln w="661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020 line"/>
          <p:cNvCxnSpPr/>
          <p:nvPr/>
        </p:nvCxnSpPr>
        <p:spPr>
          <a:xfrm>
            <a:off x="8411431" y="6758043"/>
            <a:ext cx="0" cy="1029148"/>
          </a:xfrm>
          <a:prstGeom prst="line">
            <a:avLst/>
          </a:prstGeom>
          <a:ln w="661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021 line"/>
          <p:cNvCxnSpPr/>
          <p:nvPr/>
        </p:nvCxnSpPr>
        <p:spPr>
          <a:xfrm>
            <a:off x="8521696" y="6758043"/>
            <a:ext cx="0" cy="1029148"/>
          </a:xfrm>
          <a:prstGeom prst="line">
            <a:avLst/>
          </a:prstGeom>
          <a:ln w="661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022 line"/>
          <p:cNvCxnSpPr/>
          <p:nvPr/>
        </p:nvCxnSpPr>
        <p:spPr>
          <a:xfrm>
            <a:off x="8631962" y="6758043"/>
            <a:ext cx="0" cy="1029148"/>
          </a:xfrm>
          <a:prstGeom prst="line">
            <a:avLst/>
          </a:prstGeom>
          <a:ln w="661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023 line"/>
          <p:cNvCxnSpPr/>
          <p:nvPr/>
        </p:nvCxnSpPr>
        <p:spPr>
          <a:xfrm>
            <a:off x="8742228" y="6758043"/>
            <a:ext cx="0" cy="1029148"/>
          </a:xfrm>
          <a:prstGeom prst="line">
            <a:avLst/>
          </a:prstGeom>
          <a:ln w="661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024 line"/>
          <p:cNvCxnSpPr/>
          <p:nvPr/>
        </p:nvCxnSpPr>
        <p:spPr>
          <a:xfrm>
            <a:off x="8852494" y="6758043"/>
            <a:ext cx="0" cy="1029148"/>
          </a:xfrm>
          <a:prstGeom prst="line">
            <a:avLst/>
          </a:prstGeom>
          <a:ln w="661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025 line"/>
          <p:cNvCxnSpPr/>
          <p:nvPr/>
        </p:nvCxnSpPr>
        <p:spPr>
          <a:xfrm>
            <a:off x="8962760" y="6758043"/>
            <a:ext cx="0" cy="1029148"/>
          </a:xfrm>
          <a:prstGeom prst="line">
            <a:avLst/>
          </a:prstGeom>
          <a:ln w="661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026 line"/>
          <p:cNvCxnSpPr/>
          <p:nvPr/>
        </p:nvCxnSpPr>
        <p:spPr>
          <a:xfrm>
            <a:off x="9073026" y="6758043"/>
            <a:ext cx="0" cy="1029148"/>
          </a:xfrm>
          <a:prstGeom prst="line">
            <a:avLst/>
          </a:prstGeom>
          <a:ln w="661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027 text: 계단실 1.2m×2"/>
          <p:cNvSpPr txBox="1"/>
          <p:nvPr/>
        </p:nvSpPr>
        <p:spPr>
          <a:xfrm>
            <a:off x="8414187" y="7069544"/>
            <a:ext cx="582571" cy="10337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51" b="1">
                <a:solidFill>
                  <a:srgbClr val="111111"/>
                </a:solidFill>
              </a:rPr>
              <a:t>계단실 1.2m×2</a:t>
            </a:r>
          </a:p>
        </p:txBody>
      </p:sp>
      <p:sp>
        <p:nvSpPr>
          <p:cNvPr id="31" name="028 rect"/>
          <p:cNvSpPr/>
          <p:nvPr/>
        </p:nvSpPr>
        <p:spPr>
          <a:xfrm>
            <a:off x="7676325" y="6500756"/>
            <a:ext cx="404308" cy="183776"/>
          </a:xfrm>
          <a:prstGeom prst="rect">
            <a:avLst/>
          </a:prstGeom>
          <a:solidFill>
            <a:srgbClr val="FFFFFF"/>
          </a:solidFill>
          <a:ln w="13231">
            <a:solidFill>
              <a:srgbClr val="C0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029 text: 소방"/>
          <p:cNvSpPr txBox="1"/>
          <p:nvPr/>
        </p:nvSpPr>
        <p:spPr>
          <a:xfrm>
            <a:off x="7786591" y="6574267"/>
            <a:ext cx="183776" cy="918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578" b="1">
                <a:solidFill>
                  <a:srgbClr val="C02B2B"/>
                </a:solidFill>
              </a:rPr>
              <a:t>소방</a:t>
            </a:r>
          </a:p>
        </p:txBody>
      </p:sp>
      <p:sp>
        <p:nvSpPr>
          <p:cNvPr id="33" name="030 rect"/>
          <p:cNvSpPr/>
          <p:nvPr/>
        </p:nvSpPr>
        <p:spPr>
          <a:xfrm>
            <a:off x="8080633" y="6500756"/>
            <a:ext cx="441063" cy="183776"/>
          </a:xfrm>
          <a:prstGeom prst="rect">
            <a:avLst/>
          </a:prstGeom>
          <a:solidFill>
            <a:srgbClr val="FFFFFF"/>
          </a:solidFill>
          <a:ln w="13231">
            <a:solidFill>
              <a:srgbClr val="009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031 text: PS"/>
          <p:cNvSpPr txBox="1"/>
          <p:nvPr/>
        </p:nvSpPr>
        <p:spPr>
          <a:xfrm>
            <a:off x="8237210" y="6574267"/>
            <a:ext cx="127908" cy="918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578" b="1">
                <a:solidFill>
                  <a:srgbClr val="0097B2"/>
                </a:solidFill>
              </a:rPr>
              <a:t>PS</a:t>
            </a:r>
          </a:p>
        </p:txBody>
      </p:sp>
      <p:sp>
        <p:nvSpPr>
          <p:cNvPr id="35" name="032 rect"/>
          <p:cNvSpPr/>
          <p:nvPr/>
        </p:nvSpPr>
        <p:spPr>
          <a:xfrm>
            <a:off x="8521696" y="6500756"/>
            <a:ext cx="404308" cy="183776"/>
          </a:xfrm>
          <a:prstGeom prst="rect">
            <a:avLst/>
          </a:prstGeom>
          <a:solidFill>
            <a:srgbClr val="FFFFFF"/>
          </a:solidFill>
          <a:ln w="13231">
            <a:solidFill>
              <a:srgbClr val="009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033 text: DS"/>
          <p:cNvSpPr txBox="1"/>
          <p:nvPr/>
        </p:nvSpPr>
        <p:spPr>
          <a:xfrm>
            <a:off x="8659896" y="6574267"/>
            <a:ext cx="127908" cy="918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578" b="1">
                <a:solidFill>
                  <a:srgbClr val="0097B2"/>
                </a:solidFill>
              </a:rPr>
              <a:t>DS</a:t>
            </a:r>
          </a:p>
        </p:txBody>
      </p:sp>
      <p:sp>
        <p:nvSpPr>
          <p:cNvPr id="37" name="034 rect"/>
          <p:cNvSpPr/>
          <p:nvPr/>
        </p:nvSpPr>
        <p:spPr>
          <a:xfrm>
            <a:off x="8926005" y="6500756"/>
            <a:ext cx="330797" cy="183776"/>
          </a:xfrm>
          <a:prstGeom prst="rect">
            <a:avLst/>
          </a:prstGeom>
          <a:solidFill>
            <a:srgbClr val="FFFFFF"/>
          </a:solidFill>
          <a:ln w="13231">
            <a:solidFill>
              <a:srgbClr val="009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035 text: EPS"/>
          <p:cNvSpPr txBox="1"/>
          <p:nvPr/>
        </p:nvSpPr>
        <p:spPr>
          <a:xfrm>
            <a:off x="9004661" y="6574267"/>
            <a:ext cx="173484" cy="918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578" b="1">
                <a:solidFill>
                  <a:srgbClr val="0097B2"/>
                </a:solidFill>
              </a:rPr>
              <a:t>EPS</a:t>
            </a:r>
          </a:p>
        </p:txBody>
      </p:sp>
      <p:sp>
        <p:nvSpPr>
          <p:cNvPr id="39" name="036 rect"/>
          <p:cNvSpPr/>
          <p:nvPr/>
        </p:nvSpPr>
        <p:spPr>
          <a:xfrm>
            <a:off x="9256802" y="6500756"/>
            <a:ext cx="477818" cy="183776"/>
          </a:xfrm>
          <a:prstGeom prst="rect">
            <a:avLst/>
          </a:prstGeom>
          <a:solidFill>
            <a:srgbClr val="FFFFFF"/>
          </a:solidFill>
          <a:ln w="13231">
            <a:solidFill>
              <a:srgbClr val="1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037 text: 출입"/>
          <p:cNvSpPr txBox="1"/>
          <p:nvPr/>
        </p:nvSpPr>
        <p:spPr>
          <a:xfrm>
            <a:off x="9403823" y="6574267"/>
            <a:ext cx="183776" cy="918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578" b="1">
                <a:solidFill>
                  <a:srgbClr val="1F7A45"/>
                </a:solidFill>
              </a:rPr>
              <a:t>출입</a:t>
            </a:r>
          </a:p>
        </p:txBody>
      </p:sp>
      <p:cxnSp>
        <p:nvCxnSpPr>
          <p:cNvPr id="41" name="038 line"/>
          <p:cNvCxnSpPr/>
          <p:nvPr/>
        </p:nvCxnSpPr>
        <p:spPr>
          <a:xfrm>
            <a:off x="9293558" y="6500756"/>
            <a:ext cx="404308" cy="0"/>
          </a:xfrm>
          <a:prstGeom prst="line">
            <a:avLst/>
          </a:prstGeom>
          <a:ln w="49619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039 line"/>
          <p:cNvCxnSpPr/>
          <p:nvPr/>
        </p:nvCxnSpPr>
        <p:spPr>
          <a:xfrm>
            <a:off x="9293558" y="6500756"/>
            <a:ext cx="404308" cy="0"/>
          </a:xfrm>
          <a:prstGeom prst="line">
            <a:avLst/>
          </a:prstGeom>
          <a:ln w="11577">
            <a:solidFill>
              <a:srgbClr val="9A95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040 text: 슬롯 0.5m"/>
          <p:cNvSpPr txBox="1"/>
          <p:nvPr/>
        </p:nvSpPr>
        <p:spPr>
          <a:xfrm>
            <a:off x="6817721" y="6820527"/>
            <a:ext cx="362407" cy="918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578" b="0">
                <a:solidFill>
                  <a:srgbClr val="0097B2"/>
                </a:solidFill>
              </a:rPr>
              <a:t>슬롯 0.5m</a:t>
            </a:r>
          </a:p>
        </p:txBody>
      </p:sp>
      <p:sp>
        <p:nvSpPr>
          <p:cNvPr id="44" name="041 text: (PS 화장실 직하 · 출입 최동측)"/>
          <p:cNvSpPr txBox="1"/>
          <p:nvPr/>
        </p:nvSpPr>
        <p:spPr>
          <a:xfrm>
            <a:off x="6192330" y="7155460"/>
            <a:ext cx="987798" cy="861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550" b="0">
                <a:solidFill>
                  <a:srgbClr val="0097B2"/>
                </a:solidFill>
              </a:rPr>
              <a:t>(PS 화장실 직하 · 출입 최동측)</a:t>
            </a:r>
          </a:p>
        </p:txBody>
      </p:sp>
      <p:cxnSp>
        <p:nvCxnSpPr>
          <p:cNvPr id="45" name="042 line"/>
          <p:cNvCxnSpPr/>
          <p:nvPr/>
        </p:nvCxnSpPr>
        <p:spPr>
          <a:xfrm>
            <a:off x="3504599" y="2237142"/>
            <a:ext cx="2113429" cy="0"/>
          </a:xfrm>
          <a:prstGeom prst="line">
            <a:avLst/>
          </a:prstGeom>
          <a:ln w="9096">
            <a:solidFill>
              <a:srgbClr val="6166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043 text: 5.75"/>
          <p:cNvSpPr txBox="1"/>
          <p:nvPr/>
        </p:nvSpPr>
        <p:spPr>
          <a:xfrm>
            <a:off x="4457801" y="2056581"/>
            <a:ext cx="207024" cy="976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15" b="1">
                <a:solidFill>
                  <a:srgbClr val="61666D"/>
                </a:solidFill>
              </a:rPr>
              <a:t>5.75</a:t>
            </a:r>
          </a:p>
        </p:txBody>
      </p:sp>
      <p:cxnSp>
        <p:nvCxnSpPr>
          <p:cNvPr id="47" name="044 line"/>
          <p:cNvCxnSpPr/>
          <p:nvPr/>
        </p:nvCxnSpPr>
        <p:spPr>
          <a:xfrm>
            <a:off x="5618028" y="2237142"/>
            <a:ext cx="1911275" cy="0"/>
          </a:xfrm>
          <a:prstGeom prst="line">
            <a:avLst/>
          </a:prstGeom>
          <a:ln w="9096">
            <a:solidFill>
              <a:srgbClr val="6166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045 text: 5.2"/>
          <p:cNvSpPr txBox="1"/>
          <p:nvPr/>
        </p:nvSpPr>
        <p:spPr>
          <a:xfrm>
            <a:off x="6494366" y="2056581"/>
            <a:ext cx="158599" cy="976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15" b="1">
                <a:solidFill>
                  <a:srgbClr val="61666D"/>
                </a:solidFill>
              </a:rPr>
              <a:t>5.2</a:t>
            </a:r>
          </a:p>
        </p:txBody>
      </p:sp>
      <p:cxnSp>
        <p:nvCxnSpPr>
          <p:cNvPr id="49" name="046 line"/>
          <p:cNvCxnSpPr/>
          <p:nvPr/>
        </p:nvCxnSpPr>
        <p:spPr>
          <a:xfrm>
            <a:off x="7529303" y="2237142"/>
            <a:ext cx="1378324" cy="0"/>
          </a:xfrm>
          <a:prstGeom prst="line">
            <a:avLst/>
          </a:prstGeom>
          <a:ln w="9096">
            <a:solidFill>
              <a:srgbClr val="6166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047 text: 3.75"/>
          <p:cNvSpPr txBox="1"/>
          <p:nvPr/>
        </p:nvSpPr>
        <p:spPr>
          <a:xfrm>
            <a:off x="8114953" y="2056581"/>
            <a:ext cx="207024" cy="976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15" b="1">
                <a:solidFill>
                  <a:srgbClr val="61666D"/>
                </a:solidFill>
              </a:rPr>
              <a:t>3.75</a:t>
            </a:r>
          </a:p>
        </p:txBody>
      </p:sp>
      <p:sp>
        <p:nvSpPr>
          <p:cNvPr id="51" name="048 rect"/>
          <p:cNvSpPr/>
          <p:nvPr/>
        </p:nvSpPr>
        <p:spPr>
          <a:xfrm>
            <a:off x="8889249" y="3983018"/>
            <a:ext cx="845371" cy="2517737"/>
          </a:xfrm>
          <a:prstGeom prst="rect">
            <a:avLst/>
          </a:prstGeom>
          <a:solidFill>
            <a:srgbClr val="0097B2">
              <a:alpha val="509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049 text: 전실·복도"/>
          <p:cNvSpPr txBox="1"/>
          <p:nvPr/>
        </p:nvSpPr>
        <p:spPr>
          <a:xfrm>
            <a:off x="9114927" y="4606939"/>
            <a:ext cx="394016" cy="10337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51" b="1">
                <a:solidFill>
                  <a:srgbClr val="0097B2"/>
                </a:solidFill>
              </a:rPr>
              <a:t>전실·복도</a:t>
            </a:r>
          </a:p>
        </p:txBody>
      </p:sp>
      <p:sp>
        <p:nvSpPr>
          <p:cNvPr id="53" name="050 text: 폭 2.3m"/>
          <p:cNvSpPr txBox="1"/>
          <p:nvPr/>
        </p:nvSpPr>
        <p:spPr>
          <a:xfrm>
            <a:off x="9167487" y="4946007"/>
            <a:ext cx="288896" cy="918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578" b="0">
                <a:solidFill>
                  <a:srgbClr val="0097B2"/>
                </a:solidFill>
              </a:rPr>
              <a:t>폭 2.3m</a:t>
            </a:r>
          </a:p>
        </p:txBody>
      </p:sp>
      <p:sp>
        <p:nvSpPr>
          <p:cNvPr id="54" name="051 text: EV 대기"/>
          <p:cNvSpPr txBox="1"/>
          <p:nvPr/>
        </p:nvSpPr>
        <p:spPr>
          <a:xfrm>
            <a:off x="9170887" y="4178281"/>
            <a:ext cx="282096" cy="861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550" b="0">
                <a:solidFill>
                  <a:srgbClr val="0097B2"/>
                </a:solidFill>
              </a:rPr>
              <a:t>EV 대기</a:t>
            </a:r>
          </a:p>
        </p:txBody>
      </p:sp>
      <p:cxnSp>
        <p:nvCxnSpPr>
          <p:cNvPr id="55" name="052 line"/>
          <p:cNvCxnSpPr/>
          <p:nvPr/>
        </p:nvCxnSpPr>
        <p:spPr>
          <a:xfrm>
            <a:off x="8889249" y="3983018"/>
            <a:ext cx="0" cy="2517738"/>
          </a:xfrm>
          <a:prstGeom prst="line">
            <a:avLst/>
          </a:prstGeom>
          <a:ln w="2480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053 line"/>
          <p:cNvCxnSpPr/>
          <p:nvPr/>
        </p:nvCxnSpPr>
        <p:spPr>
          <a:xfrm>
            <a:off x="8007122" y="3983018"/>
            <a:ext cx="0" cy="2517738"/>
          </a:xfrm>
          <a:prstGeom prst="line">
            <a:avLst/>
          </a:prstGeom>
          <a:ln w="2480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054 line"/>
          <p:cNvCxnSpPr/>
          <p:nvPr/>
        </p:nvCxnSpPr>
        <p:spPr>
          <a:xfrm>
            <a:off x="8007122" y="3983018"/>
            <a:ext cx="1727499" cy="0"/>
          </a:xfrm>
          <a:prstGeom prst="line">
            <a:avLst/>
          </a:prstGeom>
          <a:ln w="2480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055 line"/>
          <p:cNvCxnSpPr/>
          <p:nvPr/>
        </p:nvCxnSpPr>
        <p:spPr>
          <a:xfrm>
            <a:off x="8007122" y="5232698"/>
            <a:ext cx="882127" cy="0"/>
          </a:xfrm>
          <a:prstGeom prst="line">
            <a:avLst/>
          </a:prstGeom>
          <a:ln w="2480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056 rect"/>
          <p:cNvSpPr/>
          <p:nvPr/>
        </p:nvSpPr>
        <p:spPr>
          <a:xfrm>
            <a:off x="8135766" y="4166795"/>
            <a:ext cx="165398" cy="238909"/>
          </a:xfrm>
          <a:prstGeom prst="rect">
            <a:avLst/>
          </a:prstGeom>
          <a:solidFill>
            <a:srgbClr val="FFFFFF"/>
          </a:solidFill>
          <a:ln w="9923">
            <a:solidFill>
              <a:srgbClr val="616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057 rect"/>
          <p:cNvSpPr/>
          <p:nvPr/>
        </p:nvSpPr>
        <p:spPr>
          <a:xfrm>
            <a:off x="8135766" y="4479215"/>
            <a:ext cx="165398" cy="238909"/>
          </a:xfrm>
          <a:prstGeom prst="rect">
            <a:avLst/>
          </a:prstGeom>
          <a:solidFill>
            <a:srgbClr val="FFFFFF"/>
          </a:solidFill>
          <a:ln w="9923">
            <a:solidFill>
              <a:srgbClr val="616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058 circle"/>
          <p:cNvSpPr/>
          <p:nvPr/>
        </p:nvSpPr>
        <p:spPr>
          <a:xfrm>
            <a:off x="8696284" y="4231117"/>
            <a:ext cx="128643" cy="128643"/>
          </a:xfrm>
          <a:prstGeom prst="ellipse">
            <a:avLst/>
          </a:prstGeom>
          <a:noFill/>
          <a:ln w="9923">
            <a:solidFill>
              <a:srgbClr val="616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059 rect"/>
          <p:cNvSpPr/>
          <p:nvPr/>
        </p:nvSpPr>
        <p:spPr>
          <a:xfrm>
            <a:off x="8135766" y="5416475"/>
            <a:ext cx="165398" cy="238909"/>
          </a:xfrm>
          <a:prstGeom prst="rect">
            <a:avLst/>
          </a:prstGeom>
          <a:solidFill>
            <a:srgbClr val="FFFFFF"/>
          </a:solidFill>
          <a:ln w="9923">
            <a:solidFill>
              <a:srgbClr val="616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060 rect"/>
          <p:cNvSpPr/>
          <p:nvPr/>
        </p:nvSpPr>
        <p:spPr>
          <a:xfrm>
            <a:off x="8135766" y="5728895"/>
            <a:ext cx="165398" cy="238909"/>
          </a:xfrm>
          <a:prstGeom prst="rect">
            <a:avLst/>
          </a:prstGeom>
          <a:solidFill>
            <a:srgbClr val="FFFFFF"/>
          </a:solidFill>
          <a:ln w="9923">
            <a:solidFill>
              <a:srgbClr val="616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061 circle"/>
          <p:cNvSpPr/>
          <p:nvPr/>
        </p:nvSpPr>
        <p:spPr>
          <a:xfrm>
            <a:off x="8696284" y="5480797"/>
            <a:ext cx="128643" cy="128643"/>
          </a:xfrm>
          <a:prstGeom prst="ellipse">
            <a:avLst/>
          </a:prstGeom>
          <a:noFill/>
          <a:ln w="9923">
            <a:solidFill>
              <a:srgbClr val="616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062 text: 여자 화장실 2.4×3.4"/>
          <p:cNvSpPr txBox="1"/>
          <p:nvPr/>
        </p:nvSpPr>
        <p:spPr>
          <a:xfrm>
            <a:off x="8109003" y="5023653"/>
            <a:ext cx="678364" cy="861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550" b="1">
                <a:solidFill>
                  <a:srgbClr val="111111"/>
                </a:solidFill>
              </a:rPr>
              <a:t>여자 화장실 2.4×3.4</a:t>
            </a:r>
          </a:p>
        </p:txBody>
      </p:sp>
      <p:sp>
        <p:nvSpPr>
          <p:cNvPr id="66" name="063 text: 남자 화장실 2.4×3.45"/>
          <p:cNvSpPr txBox="1"/>
          <p:nvPr/>
        </p:nvSpPr>
        <p:spPr>
          <a:xfrm>
            <a:off x="8087639" y="6291710"/>
            <a:ext cx="721092" cy="861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550" b="1">
                <a:solidFill>
                  <a:srgbClr val="111111"/>
                </a:solidFill>
              </a:rPr>
              <a:t>남자 화장실 2.4×3.45</a:t>
            </a:r>
          </a:p>
        </p:txBody>
      </p:sp>
      <p:cxnSp>
        <p:nvCxnSpPr>
          <p:cNvPr id="67" name="064 line"/>
          <p:cNvCxnSpPr/>
          <p:nvPr/>
        </p:nvCxnSpPr>
        <p:spPr>
          <a:xfrm>
            <a:off x="8889249" y="4460837"/>
            <a:ext cx="0" cy="294043"/>
          </a:xfrm>
          <a:prstGeom prst="line">
            <a:avLst/>
          </a:prstGeom>
          <a:ln w="49619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065 line"/>
          <p:cNvCxnSpPr/>
          <p:nvPr/>
        </p:nvCxnSpPr>
        <p:spPr>
          <a:xfrm>
            <a:off x="8889249" y="4460837"/>
            <a:ext cx="0" cy="294043"/>
          </a:xfrm>
          <a:prstGeom prst="line">
            <a:avLst/>
          </a:prstGeom>
          <a:ln w="11577">
            <a:solidFill>
              <a:srgbClr val="9A95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066 line"/>
          <p:cNvCxnSpPr/>
          <p:nvPr/>
        </p:nvCxnSpPr>
        <p:spPr>
          <a:xfrm>
            <a:off x="8889249" y="5710517"/>
            <a:ext cx="0" cy="294043"/>
          </a:xfrm>
          <a:prstGeom prst="line">
            <a:avLst/>
          </a:prstGeom>
          <a:ln w="49619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067 line"/>
          <p:cNvCxnSpPr/>
          <p:nvPr/>
        </p:nvCxnSpPr>
        <p:spPr>
          <a:xfrm>
            <a:off x="8889249" y="5710517"/>
            <a:ext cx="0" cy="294043"/>
          </a:xfrm>
          <a:prstGeom prst="line">
            <a:avLst/>
          </a:prstGeom>
          <a:ln w="11577">
            <a:solidFill>
              <a:srgbClr val="9A95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068 line"/>
          <p:cNvCxnSpPr/>
          <p:nvPr/>
        </p:nvCxnSpPr>
        <p:spPr>
          <a:xfrm flipH="1">
            <a:off x="8301165" y="6298602"/>
            <a:ext cx="36755" cy="202154"/>
          </a:xfrm>
          <a:prstGeom prst="line">
            <a:avLst/>
          </a:prstGeom>
          <a:ln w="13231">
            <a:solidFill>
              <a:srgbClr val="0097B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069 rect"/>
          <p:cNvSpPr/>
          <p:nvPr/>
        </p:nvSpPr>
        <p:spPr>
          <a:xfrm>
            <a:off x="3394333" y="3909508"/>
            <a:ext cx="220531" cy="220531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070 rect"/>
          <p:cNvSpPr/>
          <p:nvPr/>
        </p:nvSpPr>
        <p:spPr>
          <a:xfrm>
            <a:off x="5507762" y="3909508"/>
            <a:ext cx="220531" cy="220531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071 rect"/>
          <p:cNvSpPr/>
          <p:nvPr/>
        </p:nvSpPr>
        <p:spPr>
          <a:xfrm>
            <a:off x="7419038" y="3909508"/>
            <a:ext cx="220531" cy="220531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072 text: 내부 기둥 3본 (v5.2 라인)"/>
          <p:cNvSpPr txBox="1"/>
          <p:nvPr/>
        </p:nvSpPr>
        <p:spPr>
          <a:xfrm>
            <a:off x="5171451" y="3641194"/>
            <a:ext cx="893153" cy="918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578" b="0">
                <a:solidFill>
                  <a:srgbClr val="61666D"/>
                </a:solidFill>
              </a:rPr>
              <a:t>내부 기둥 3본 (v5.2 라인)</a:t>
            </a:r>
          </a:p>
        </p:txBody>
      </p:sp>
      <p:sp>
        <p:nvSpPr>
          <p:cNvPr id="76" name="073 text: 프로그램 대공간 ≈ 135㎡ (41평)"/>
          <p:cNvSpPr txBox="1"/>
          <p:nvPr/>
        </p:nvSpPr>
        <p:spPr>
          <a:xfrm>
            <a:off x="4900059" y="4553644"/>
            <a:ext cx="1509448" cy="12634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95" b="1">
                <a:solidFill>
                  <a:srgbClr val="111111"/>
                </a:solidFill>
              </a:rPr>
              <a:t>프로그램 대공간 ≈ 135㎡ (41평)</a:t>
            </a:r>
          </a:p>
        </p:txBody>
      </p:sp>
      <p:sp>
        <p:nvSpPr>
          <p:cNvPr id="77" name="074 text: 2F 다음세대·그물놀이터 / 3F 소예배실·"/>
          <p:cNvSpPr txBox="1"/>
          <p:nvPr/>
        </p:nvSpPr>
        <p:spPr>
          <a:xfrm>
            <a:off x="4412500" y="4941872"/>
            <a:ext cx="2484565" cy="976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15" b="0">
                <a:solidFill>
                  <a:srgbClr val="61666D"/>
                </a:solidFill>
              </a:rPr>
              <a:t>2F 다음세대·그물놀이터 / 3F 소예배실·목양실·성가대 / 4F 식당·카페</a:t>
            </a:r>
          </a:p>
        </p:txBody>
      </p:sp>
      <p:sp>
        <p:nvSpPr>
          <p:cNvPr id="78" name="075 rect"/>
          <p:cNvSpPr/>
          <p:nvPr/>
        </p:nvSpPr>
        <p:spPr>
          <a:xfrm>
            <a:off x="6867708" y="5600251"/>
            <a:ext cx="1139414" cy="900504"/>
          </a:xfrm>
          <a:prstGeom prst="rect">
            <a:avLst/>
          </a:prstGeom>
          <a:noFill/>
          <a:ln w="11577">
            <a:solidFill>
              <a:srgbClr val="A864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076 text: 4F 주방 존"/>
          <p:cNvSpPr txBox="1"/>
          <p:nvPr/>
        </p:nvSpPr>
        <p:spPr>
          <a:xfrm>
            <a:off x="7239672" y="5938400"/>
            <a:ext cx="395486" cy="918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578" b="1">
                <a:solidFill>
                  <a:srgbClr val="A86400"/>
                </a:solidFill>
              </a:rPr>
              <a:t>4F 주방 존</a:t>
            </a:r>
          </a:p>
        </p:txBody>
      </p:sp>
      <p:sp>
        <p:nvSpPr>
          <p:cNvPr id="80" name="077 text: (DS·PS 인접)"/>
          <p:cNvSpPr txBox="1"/>
          <p:nvPr/>
        </p:nvSpPr>
        <p:spPr>
          <a:xfrm>
            <a:off x="7233791" y="6240712"/>
            <a:ext cx="407248" cy="804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550" b="0">
                <a:solidFill>
                  <a:srgbClr val="A86400"/>
                </a:solidFill>
              </a:rPr>
              <a:t>(DS·PS 인접)</a:t>
            </a:r>
          </a:p>
        </p:txBody>
      </p:sp>
      <p:cxnSp>
        <p:nvCxnSpPr>
          <p:cNvPr id="81" name="078 line"/>
          <p:cNvCxnSpPr/>
          <p:nvPr/>
        </p:nvCxnSpPr>
        <p:spPr>
          <a:xfrm>
            <a:off x="8007122" y="4791635"/>
            <a:ext cx="0" cy="367553"/>
          </a:xfrm>
          <a:prstGeom prst="line">
            <a:avLst/>
          </a:prstGeom>
          <a:ln w="49619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079 line"/>
          <p:cNvCxnSpPr/>
          <p:nvPr/>
        </p:nvCxnSpPr>
        <p:spPr>
          <a:xfrm>
            <a:off x="8007122" y="4791635"/>
            <a:ext cx="0" cy="367553"/>
          </a:xfrm>
          <a:prstGeom prst="line">
            <a:avLst/>
          </a:prstGeom>
          <a:ln w="11577">
            <a:solidFill>
              <a:srgbClr val="9A95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320040" y="8567928"/>
            <a:ext cx="11521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F6C66"/>
                </a:solidFill>
              </a:rPr>
              <a:t>도면 축척: 1 m = 40 px (원본)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</a:rPr>
              <a:t>본당층 평면 — 5F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6C66"/>
                </a:solidFill>
              </a:rPr>
              <a:t>전실 2.1m · 장애인 화장실 · 자모실 9.5㎡ · 강단 서측 · 대예배실 순면적 ≈130㎡(39평)</a:t>
            </a:r>
          </a:p>
        </p:txBody>
      </p:sp>
      <p:sp>
        <p:nvSpPr>
          <p:cNvPr id="4" name="001 text: 본당층 평면 (5F) — 지붕 트러스 · 내"/>
          <p:cNvSpPr txBox="1"/>
          <p:nvPr/>
        </p:nvSpPr>
        <p:spPr>
          <a:xfrm>
            <a:off x="2567339" y="1286099"/>
            <a:ext cx="3018069" cy="1722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85" b="1">
                <a:solidFill>
                  <a:srgbClr val="111111"/>
                </a:solidFill>
              </a:rPr>
              <a:t>본당층 평면 (5F) — 지붕 트러스 · 내부 기둥 없음</a:t>
            </a:r>
          </a:p>
        </p:txBody>
      </p:sp>
      <p:sp>
        <p:nvSpPr>
          <p:cNvPr id="5" name="002 rect"/>
          <p:cNvSpPr/>
          <p:nvPr/>
        </p:nvSpPr>
        <p:spPr>
          <a:xfrm>
            <a:off x="3375955" y="2549562"/>
            <a:ext cx="6358665" cy="3951194"/>
          </a:xfrm>
          <a:prstGeom prst="rect">
            <a:avLst/>
          </a:prstGeom>
          <a:noFill/>
          <a:ln w="49619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003 rect"/>
          <p:cNvSpPr/>
          <p:nvPr/>
        </p:nvSpPr>
        <p:spPr>
          <a:xfrm>
            <a:off x="8852494" y="2310652"/>
            <a:ext cx="882127" cy="1635610"/>
          </a:xfrm>
          <a:prstGeom prst="rect">
            <a:avLst/>
          </a:prstGeom>
          <a:noFill/>
          <a:ln w="33079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004 rect"/>
          <p:cNvSpPr/>
          <p:nvPr/>
        </p:nvSpPr>
        <p:spPr>
          <a:xfrm>
            <a:off x="8907627" y="2365785"/>
            <a:ext cx="771861" cy="771861"/>
          </a:xfrm>
          <a:prstGeom prst="rect">
            <a:avLst/>
          </a:prstGeom>
          <a:solidFill>
            <a:srgbClr val="FFFFFF"/>
          </a:solidFill>
          <a:ln w="33079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005 line"/>
          <p:cNvCxnSpPr/>
          <p:nvPr/>
        </p:nvCxnSpPr>
        <p:spPr>
          <a:xfrm>
            <a:off x="8907627" y="2365785"/>
            <a:ext cx="771861" cy="771862"/>
          </a:xfrm>
          <a:prstGeom prst="line">
            <a:avLst/>
          </a:prstGeom>
          <a:ln w="826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006 line"/>
          <p:cNvCxnSpPr/>
          <p:nvPr/>
        </p:nvCxnSpPr>
        <p:spPr>
          <a:xfrm flipV="1">
            <a:off x="8907627" y="2365785"/>
            <a:ext cx="771861" cy="771862"/>
          </a:xfrm>
          <a:prstGeom prst="line">
            <a:avLst/>
          </a:prstGeom>
          <a:ln w="826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007 text: EV"/>
          <p:cNvSpPr txBox="1"/>
          <p:nvPr/>
        </p:nvSpPr>
        <p:spPr>
          <a:xfrm>
            <a:off x="9206815" y="2744365"/>
            <a:ext cx="173484" cy="1378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68" b="1">
                <a:solidFill>
                  <a:srgbClr val="111111"/>
                </a:solidFill>
              </a:rPr>
              <a:t>EV</a:t>
            </a:r>
          </a:p>
        </p:txBody>
      </p:sp>
      <p:sp>
        <p:nvSpPr>
          <p:cNvPr id="11" name="008 text: EV홀(1F)·착상"/>
          <p:cNvSpPr txBox="1"/>
          <p:nvPr/>
        </p:nvSpPr>
        <p:spPr>
          <a:xfrm>
            <a:off x="9038476" y="3641194"/>
            <a:ext cx="510163" cy="918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578" b="0">
                <a:solidFill>
                  <a:srgbClr val="61666D"/>
                </a:solidFill>
              </a:rPr>
              <a:t>EV홀(1F)·착상</a:t>
            </a:r>
          </a:p>
        </p:txBody>
      </p:sp>
      <p:cxnSp>
        <p:nvCxnSpPr>
          <p:cNvPr id="12" name="009 line"/>
          <p:cNvCxnSpPr/>
          <p:nvPr/>
        </p:nvCxnSpPr>
        <p:spPr>
          <a:xfrm>
            <a:off x="9036271" y="3946263"/>
            <a:ext cx="349175" cy="0"/>
          </a:xfrm>
          <a:prstGeom prst="line">
            <a:avLst/>
          </a:prstGeom>
          <a:ln w="49619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010 line"/>
          <p:cNvCxnSpPr/>
          <p:nvPr/>
        </p:nvCxnSpPr>
        <p:spPr>
          <a:xfrm>
            <a:off x="9036271" y="3946263"/>
            <a:ext cx="349175" cy="0"/>
          </a:xfrm>
          <a:prstGeom prst="line">
            <a:avLst/>
          </a:prstGeom>
          <a:ln w="11577">
            <a:solidFill>
              <a:srgbClr val="9A95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011 rect"/>
          <p:cNvSpPr/>
          <p:nvPr/>
        </p:nvSpPr>
        <p:spPr>
          <a:xfrm>
            <a:off x="7676325" y="6684532"/>
            <a:ext cx="2058296" cy="1176169"/>
          </a:xfrm>
          <a:prstGeom prst="rect">
            <a:avLst/>
          </a:prstGeom>
          <a:noFill/>
          <a:ln w="33079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012 rect"/>
          <p:cNvSpPr/>
          <p:nvPr/>
        </p:nvSpPr>
        <p:spPr>
          <a:xfrm>
            <a:off x="7749835" y="6758043"/>
            <a:ext cx="1911275" cy="1029148"/>
          </a:xfrm>
          <a:prstGeom prst="rect">
            <a:avLst/>
          </a:prstGeom>
          <a:solidFill>
            <a:srgbClr val="FFFFFF"/>
          </a:solidFill>
          <a:ln w="33079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013 line"/>
          <p:cNvCxnSpPr/>
          <p:nvPr/>
        </p:nvCxnSpPr>
        <p:spPr>
          <a:xfrm>
            <a:off x="7749835" y="7272617"/>
            <a:ext cx="1433457" cy="0"/>
          </a:xfrm>
          <a:prstGeom prst="line">
            <a:avLst/>
          </a:prstGeom>
          <a:ln w="992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014 line"/>
          <p:cNvCxnSpPr/>
          <p:nvPr/>
        </p:nvCxnSpPr>
        <p:spPr>
          <a:xfrm>
            <a:off x="9183292" y="6758043"/>
            <a:ext cx="0" cy="1029148"/>
          </a:xfrm>
          <a:prstGeom prst="line">
            <a:avLst/>
          </a:prstGeom>
          <a:ln w="992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015 line"/>
          <p:cNvCxnSpPr/>
          <p:nvPr/>
        </p:nvCxnSpPr>
        <p:spPr>
          <a:xfrm>
            <a:off x="7860101" y="6758043"/>
            <a:ext cx="0" cy="1029148"/>
          </a:xfrm>
          <a:prstGeom prst="line">
            <a:avLst/>
          </a:prstGeom>
          <a:ln w="661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016 line"/>
          <p:cNvCxnSpPr/>
          <p:nvPr/>
        </p:nvCxnSpPr>
        <p:spPr>
          <a:xfrm>
            <a:off x="7970367" y="6758043"/>
            <a:ext cx="0" cy="1029148"/>
          </a:xfrm>
          <a:prstGeom prst="line">
            <a:avLst/>
          </a:prstGeom>
          <a:ln w="661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017 line"/>
          <p:cNvCxnSpPr/>
          <p:nvPr/>
        </p:nvCxnSpPr>
        <p:spPr>
          <a:xfrm>
            <a:off x="8080633" y="6758043"/>
            <a:ext cx="0" cy="1029148"/>
          </a:xfrm>
          <a:prstGeom prst="line">
            <a:avLst/>
          </a:prstGeom>
          <a:ln w="661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018 line"/>
          <p:cNvCxnSpPr/>
          <p:nvPr/>
        </p:nvCxnSpPr>
        <p:spPr>
          <a:xfrm>
            <a:off x="8190899" y="6758043"/>
            <a:ext cx="0" cy="1029148"/>
          </a:xfrm>
          <a:prstGeom prst="line">
            <a:avLst/>
          </a:prstGeom>
          <a:ln w="661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019 line"/>
          <p:cNvCxnSpPr/>
          <p:nvPr/>
        </p:nvCxnSpPr>
        <p:spPr>
          <a:xfrm>
            <a:off x="8301165" y="6758043"/>
            <a:ext cx="0" cy="1029148"/>
          </a:xfrm>
          <a:prstGeom prst="line">
            <a:avLst/>
          </a:prstGeom>
          <a:ln w="661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020 line"/>
          <p:cNvCxnSpPr/>
          <p:nvPr/>
        </p:nvCxnSpPr>
        <p:spPr>
          <a:xfrm>
            <a:off x="8411431" y="6758043"/>
            <a:ext cx="0" cy="1029148"/>
          </a:xfrm>
          <a:prstGeom prst="line">
            <a:avLst/>
          </a:prstGeom>
          <a:ln w="661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021 line"/>
          <p:cNvCxnSpPr/>
          <p:nvPr/>
        </p:nvCxnSpPr>
        <p:spPr>
          <a:xfrm>
            <a:off x="8521696" y="6758043"/>
            <a:ext cx="0" cy="1029148"/>
          </a:xfrm>
          <a:prstGeom prst="line">
            <a:avLst/>
          </a:prstGeom>
          <a:ln w="661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022 line"/>
          <p:cNvCxnSpPr/>
          <p:nvPr/>
        </p:nvCxnSpPr>
        <p:spPr>
          <a:xfrm>
            <a:off x="8631962" y="6758043"/>
            <a:ext cx="0" cy="1029148"/>
          </a:xfrm>
          <a:prstGeom prst="line">
            <a:avLst/>
          </a:prstGeom>
          <a:ln w="661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023 line"/>
          <p:cNvCxnSpPr/>
          <p:nvPr/>
        </p:nvCxnSpPr>
        <p:spPr>
          <a:xfrm>
            <a:off x="8742228" y="6758043"/>
            <a:ext cx="0" cy="1029148"/>
          </a:xfrm>
          <a:prstGeom prst="line">
            <a:avLst/>
          </a:prstGeom>
          <a:ln w="661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024 line"/>
          <p:cNvCxnSpPr/>
          <p:nvPr/>
        </p:nvCxnSpPr>
        <p:spPr>
          <a:xfrm>
            <a:off x="8852494" y="6758043"/>
            <a:ext cx="0" cy="1029148"/>
          </a:xfrm>
          <a:prstGeom prst="line">
            <a:avLst/>
          </a:prstGeom>
          <a:ln w="661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025 line"/>
          <p:cNvCxnSpPr/>
          <p:nvPr/>
        </p:nvCxnSpPr>
        <p:spPr>
          <a:xfrm>
            <a:off x="8962760" y="6758043"/>
            <a:ext cx="0" cy="1029148"/>
          </a:xfrm>
          <a:prstGeom prst="line">
            <a:avLst/>
          </a:prstGeom>
          <a:ln w="661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026 line"/>
          <p:cNvCxnSpPr/>
          <p:nvPr/>
        </p:nvCxnSpPr>
        <p:spPr>
          <a:xfrm>
            <a:off x="9073026" y="6758043"/>
            <a:ext cx="0" cy="1029148"/>
          </a:xfrm>
          <a:prstGeom prst="line">
            <a:avLst/>
          </a:prstGeom>
          <a:ln w="6615">
            <a:solidFill>
              <a:srgbClr val="11111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027 text: 계단실 1.2m×2"/>
          <p:cNvSpPr txBox="1"/>
          <p:nvPr/>
        </p:nvSpPr>
        <p:spPr>
          <a:xfrm>
            <a:off x="8414187" y="7069544"/>
            <a:ext cx="582571" cy="10337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51" b="1">
                <a:solidFill>
                  <a:srgbClr val="111111"/>
                </a:solidFill>
              </a:rPr>
              <a:t>계단실 1.2m×2</a:t>
            </a:r>
          </a:p>
        </p:txBody>
      </p:sp>
      <p:sp>
        <p:nvSpPr>
          <p:cNvPr id="31" name="028 rect"/>
          <p:cNvSpPr/>
          <p:nvPr/>
        </p:nvSpPr>
        <p:spPr>
          <a:xfrm>
            <a:off x="7676325" y="6500756"/>
            <a:ext cx="404308" cy="183776"/>
          </a:xfrm>
          <a:prstGeom prst="rect">
            <a:avLst/>
          </a:prstGeom>
          <a:solidFill>
            <a:srgbClr val="FFFFFF"/>
          </a:solidFill>
          <a:ln w="13231">
            <a:solidFill>
              <a:srgbClr val="C0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029 text: 소방"/>
          <p:cNvSpPr txBox="1"/>
          <p:nvPr/>
        </p:nvSpPr>
        <p:spPr>
          <a:xfrm>
            <a:off x="7786591" y="6574267"/>
            <a:ext cx="183776" cy="918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578" b="1">
                <a:solidFill>
                  <a:srgbClr val="C02B2B"/>
                </a:solidFill>
              </a:rPr>
              <a:t>소방</a:t>
            </a:r>
          </a:p>
        </p:txBody>
      </p:sp>
      <p:sp>
        <p:nvSpPr>
          <p:cNvPr id="33" name="030 rect"/>
          <p:cNvSpPr/>
          <p:nvPr/>
        </p:nvSpPr>
        <p:spPr>
          <a:xfrm>
            <a:off x="8080633" y="6500756"/>
            <a:ext cx="441063" cy="183776"/>
          </a:xfrm>
          <a:prstGeom prst="rect">
            <a:avLst/>
          </a:prstGeom>
          <a:solidFill>
            <a:srgbClr val="FFFFFF"/>
          </a:solidFill>
          <a:ln w="13231">
            <a:solidFill>
              <a:srgbClr val="009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031 text: PS"/>
          <p:cNvSpPr txBox="1"/>
          <p:nvPr/>
        </p:nvSpPr>
        <p:spPr>
          <a:xfrm>
            <a:off x="8237210" y="6574267"/>
            <a:ext cx="127908" cy="918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578" b="1">
                <a:solidFill>
                  <a:srgbClr val="0097B2"/>
                </a:solidFill>
              </a:rPr>
              <a:t>PS</a:t>
            </a:r>
          </a:p>
        </p:txBody>
      </p:sp>
      <p:sp>
        <p:nvSpPr>
          <p:cNvPr id="35" name="032 rect"/>
          <p:cNvSpPr/>
          <p:nvPr/>
        </p:nvSpPr>
        <p:spPr>
          <a:xfrm>
            <a:off x="8521696" y="6500756"/>
            <a:ext cx="404308" cy="183776"/>
          </a:xfrm>
          <a:prstGeom prst="rect">
            <a:avLst/>
          </a:prstGeom>
          <a:solidFill>
            <a:srgbClr val="FFFFFF"/>
          </a:solidFill>
          <a:ln w="13231">
            <a:solidFill>
              <a:srgbClr val="009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033 text: DS"/>
          <p:cNvSpPr txBox="1"/>
          <p:nvPr/>
        </p:nvSpPr>
        <p:spPr>
          <a:xfrm>
            <a:off x="8659896" y="6574267"/>
            <a:ext cx="127908" cy="918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578" b="1">
                <a:solidFill>
                  <a:srgbClr val="0097B2"/>
                </a:solidFill>
              </a:rPr>
              <a:t>DS</a:t>
            </a:r>
          </a:p>
        </p:txBody>
      </p:sp>
      <p:sp>
        <p:nvSpPr>
          <p:cNvPr id="37" name="034 rect"/>
          <p:cNvSpPr/>
          <p:nvPr/>
        </p:nvSpPr>
        <p:spPr>
          <a:xfrm>
            <a:off x="8926005" y="6500756"/>
            <a:ext cx="330797" cy="183776"/>
          </a:xfrm>
          <a:prstGeom prst="rect">
            <a:avLst/>
          </a:prstGeom>
          <a:solidFill>
            <a:srgbClr val="FFFFFF"/>
          </a:solidFill>
          <a:ln w="13231">
            <a:solidFill>
              <a:srgbClr val="009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035 text: EPS"/>
          <p:cNvSpPr txBox="1"/>
          <p:nvPr/>
        </p:nvSpPr>
        <p:spPr>
          <a:xfrm>
            <a:off x="9004661" y="6574267"/>
            <a:ext cx="173484" cy="918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578" b="1">
                <a:solidFill>
                  <a:srgbClr val="0097B2"/>
                </a:solidFill>
              </a:rPr>
              <a:t>EPS</a:t>
            </a:r>
          </a:p>
        </p:txBody>
      </p:sp>
      <p:sp>
        <p:nvSpPr>
          <p:cNvPr id="39" name="036 rect"/>
          <p:cNvSpPr/>
          <p:nvPr/>
        </p:nvSpPr>
        <p:spPr>
          <a:xfrm>
            <a:off x="9256802" y="6500756"/>
            <a:ext cx="477818" cy="183776"/>
          </a:xfrm>
          <a:prstGeom prst="rect">
            <a:avLst/>
          </a:prstGeom>
          <a:solidFill>
            <a:srgbClr val="FFFFFF"/>
          </a:solidFill>
          <a:ln w="13231">
            <a:solidFill>
              <a:srgbClr val="1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037 text: 출입"/>
          <p:cNvSpPr txBox="1"/>
          <p:nvPr/>
        </p:nvSpPr>
        <p:spPr>
          <a:xfrm>
            <a:off x="9403823" y="6574267"/>
            <a:ext cx="183776" cy="918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578" b="1">
                <a:solidFill>
                  <a:srgbClr val="1F7A45"/>
                </a:solidFill>
              </a:rPr>
              <a:t>출입</a:t>
            </a:r>
          </a:p>
        </p:txBody>
      </p:sp>
      <p:cxnSp>
        <p:nvCxnSpPr>
          <p:cNvPr id="41" name="038 line"/>
          <p:cNvCxnSpPr/>
          <p:nvPr/>
        </p:nvCxnSpPr>
        <p:spPr>
          <a:xfrm>
            <a:off x="9293558" y="6500756"/>
            <a:ext cx="404308" cy="0"/>
          </a:xfrm>
          <a:prstGeom prst="line">
            <a:avLst/>
          </a:prstGeom>
          <a:ln w="49619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039 line"/>
          <p:cNvCxnSpPr/>
          <p:nvPr/>
        </p:nvCxnSpPr>
        <p:spPr>
          <a:xfrm>
            <a:off x="9293558" y="6500756"/>
            <a:ext cx="404308" cy="0"/>
          </a:xfrm>
          <a:prstGeom prst="line">
            <a:avLst/>
          </a:prstGeom>
          <a:ln w="11577">
            <a:solidFill>
              <a:srgbClr val="9A95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040 text: 슬롯 0.5m"/>
          <p:cNvSpPr txBox="1"/>
          <p:nvPr/>
        </p:nvSpPr>
        <p:spPr>
          <a:xfrm>
            <a:off x="6817721" y="6820527"/>
            <a:ext cx="362407" cy="918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578" b="0">
                <a:solidFill>
                  <a:srgbClr val="0097B2"/>
                </a:solidFill>
              </a:rPr>
              <a:t>슬롯 0.5m</a:t>
            </a:r>
          </a:p>
        </p:txBody>
      </p:sp>
      <p:sp>
        <p:nvSpPr>
          <p:cNvPr id="44" name="041 text: (PS 화장실 직하 · 출입 최동측)"/>
          <p:cNvSpPr txBox="1"/>
          <p:nvPr/>
        </p:nvSpPr>
        <p:spPr>
          <a:xfrm>
            <a:off x="6192330" y="7155460"/>
            <a:ext cx="987798" cy="861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550" b="0">
                <a:solidFill>
                  <a:srgbClr val="0097B2"/>
                </a:solidFill>
              </a:rPr>
              <a:t>(PS 화장실 직하 · 출입 최동측)</a:t>
            </a:r>
          </a:p>
        </p:txBody>
      </p:sp>
      <p:cxnSp>
        <p:nvCxnSpPr>
          <p:cNvPr id="45" name="042 line"/>
          <p:cNvCxnSpPr/>
          <p:nvPr/>
        </p:nvCxnSpPr>
        <p:spPr>
          <a:xfrm>
            <a:off x="3504599" y="2237142"/>
            <a:ext cx="2113429" cy="0"/>
          </a:xfrm>
          <a:prstGeom prst="line">
            <a:avLst/>
          </a:prstGeom>
          <a:ln w="9096">
            <a:solidFill>
              <a:srgbClr val="6166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043 text: 5.75"/>
          <p:cNvSpPr txBox="1"/>
          <p:nvPr/>
        </p:nvSpPr>
        <p:spPr>
          <a:xfrm>
            <a:off x="4457801" y="2056581"/>
            <a:ext cx="207024" cy="976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15" b="1">
                <a:solidFill>
                  <a:srgbClr val="61666D"/>
                </a:solidFill>
              </a:rPr>
              <a:t>5.75</a:t>
            </a:r>
          </a:p>
        </p:txBody>
      </p:sp>
      <p:cxnSp>
        <p:nvCxnSpPr>
          <p:cNvPr id="47" name="044 line"/>
          <p:cNvCxnSpPr/>
          <p:nvPr/>
        </p:nvCxnSpPr>
        <p:spPr>
          <a:xfrm>
            <a:off x="5618028" y="2237142"/>
            <a:ext cx="1911275" cy="0"/>
          </a:xfrm>
          <a:prstGeom prst="line">
            <a:avLst/>
          </a:prstGeom>
          <a:ln w="9096">
            <a:solidFill>
              <a:srgbClr val="6166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045 text: 5.2"/>
          <p:cNvSpPr txBox="1"/>
          <p:nvPr/>
        </p:nvSpPr>
        <p:spPr>
          <a:xfrm>
            <a:off x="6494366" y="2056581"/>
            <a:ext cx="158599" cy="976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15" b="1">
                <a:solidFill>
                  <a:srgbClr val="61666D"/>
                </a:solidFill>
              </a:rPr>
              <a:t>5.2</a:t>
            </a:r>
          </a:p>
        </p:txBody>
      </p:sp>
      <p:cxnSp>
        <p:nvCxnSpPr>
          <p:cNvPr id="49" name="046 line"/>
          <p:cNvCxnSpPr/>
          <p:nvPr/>
        </p:nvCxnSpPr>
        <p:spPr>
          <a:xfrm>
            <a:off x="7529303" y="2237142"/>
            <a:ext cx="1378324" cy="0"/>
          </a:xfrm>
          <a:prstGeom prst="line">
            <a:avLst/>
          </a:prstGeom>
          <a:ln w="9096">
            <a:solidFill>
              <a:srgbClr val="6166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047 text: 3.75"/>
          <p:cNvSpPr txBox="1"/>
          <p:nvPr/>
        </p:nvSpPr>
        <p:spPr>
          <a:xfrm>
            <a:off x="8114953" y="2056581"/>
            <a:ext cx="207024" cy="976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15" b="1">
                <a:solidFill>
                  <a:srgbClr val="61666D"/>
                </a:solidFill>
              </a:rPr>
              <a:t>3.75</a:t>
            </a:r>
          </a:p>
        </p:txBody>
      </p:sp>
      <p:sp>
        <p:nvSpPr>
          <p:cNvPr id="51" name="048 rect"/>
          <p:cNvSpPr/>
          <p:nvPr/>
        </p:nvSpPr>
        <p:spPr>
          <a:xfrm>
            <a:off x="8962760" y="3983018"/>
            <a:ext cx="771861" cy="2517737"/>
          </a:xfrm>
          <a:prstGeom prst="rect">
            <a:avLst/>
          </a:prstGeom>
          <a:solidFill>
            <a:srgbClr val="0097B2">
              <a:alpha val="509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049 line"/>
          <p:cNvCxnSpPr/>
          <p:nvPr/>
        </p:nvCxnSpPr>
        <p:spPr>
          <a:xfrm>
            <a:off x="8962760" y="3983018"/>
            <a:ext cx="0" cy="2517738"/>
          </a:xfrm>
          <a:prstGeom prst="line">
            <a:avLst/>
          </a:prstGeom>
          <a:ln w="2480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050 line"/>
          <p:cNvCxnSpPr/>
          <p:nvPr/>
        </p:nvCxnSpPr>
        <p:spPr>
          <a:xfrm>
            <a:off x="8190899" y="3983018"/>
            <a:ext cx="1543722" cy="0"/>
          </a:xfrm>
          <a:prstGeom prst="line">
            <a:avLst/>
          </a:prstGeom>
          <a:ln w="31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051 text: 전실"/>
          <p:cNvSpPr txBox="1"/>
          <p:nvPr/>
        </p:nvSpPr>
        <p:spPr>
          <a:xfrm>
            <a:off x="9247613" y="4717205"/>
            <a:ext cx="202154" cy="10337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51" b="1">
                <a:solidFill>
                  <a:srgbClr val="0097B2"/>
                </a:solidFill>
              </a:rPr>
              <a:t>전실</a:t>
            </a:r>
          </a:p>
        </p:txBody>
      </p:sp>
      <p:sp>
        <p:nvSpPr>
          <p:cNvPr id="55" name="052 text: 2.1m"/>
          <p:cNvSpPr txBox="1"/>
          <p:nvPr/>
        </p:nvSpPr>
        <p:spPr>
          <a:xfrm>
            <a:off x="9252759" y="5056273"/>
            <a:ext cx="191862" cy="918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578" b="0">
                <a:solidFill>
                  <a:srgbClr val="0097B2"/>
                </a:solidFill>
              </a:rPr>
              <a:t>2.1m</a:t>
            </a:r>
          </a:p>
        </p:txBody>
      </p:sp>
      <p:sp>
        <p:nvSpPr>
          <p:cNvPr id="56" name="053 rect"/>
          <p:cNvSpPr/>
          <p:nvPr/>
        </p:nvSpPr>
        <p:spPr>
          <a:xfrm>
            <a:off x="8190899" y="5637007"/>
            <a:ext cx="771861" cy="863749"/>
          </a:xfrm>
          <a:prstGeom prst="rect">
            <a:avLst/>
          </a:prstGeom>
          <a:solidFill>
            <a:srgbClr val="1F6F9E">
              <a:alpha val="6274"/>
            </a:srgbClr>
          </a:solidFill>
          <a:ln w="24809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054 text: 장애인"/>
          <p:cNvSpPr txBox="1"/>
          <p:nvPr/>
        </p:nvSpPr>
        <p:spPr>
          <a:xfrm>
            <a:off x="8441294" y="5897510"/>
            <a:ext cx="271070" cy="976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15" b="1">
                <a:solidFill>
                  <a:srgbClr val="1F6F9E"/>
                </a:solidFill>
              </a:rPr>
              <a:t>장애인</a:t>
            </a:r>
          </a:p>
        </p:txBody>
      </p:sp>
      <p:sp>
        <p:nvSpPr>
          <p:cNvPr id="58" name="055 text: 화장실"/>
          <p:cNvSpPr txBox="1"/>
          <p:nvPr/>
        </p:nvSpPr>
        <p:spPr>
          <a:xfrm>
            <a:off x="8441294" y="6209930"/>
            <a:ext cx="271070" cy="976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15" b="1">
                <a:solidFill>
                  <a:srgbClr val="1F6F9E"/>
                </a:solidFill>
              </a:rPr>
              <a:t>화장실</a:t>
            </a:r>
          </a:p>
        </p:txBody>
      </p:sp>
      <p:cxnSp>
        <p:nvCxnSpPr>
          <p:cNvPr id="59" name="056 line"/>
          <p:cNvCxnSpPr/>
          <p:nvPr/>
        </p:nvCxnSpPr>
        <p:spPr>
          <a:xfrm>
            <a:off x="8962760" y="5784028"/>
            <a:ext cx="0" cy="330797"/>
          </a:xfrm>
          <a:prstGeom prst="line">
            <a:avLst/>
          </a:prstGeom>
          <a:ln w="49619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057 line"/>
          <p:cNvCxnSpPr/>
          <p:nvPr/>
        </p:nvCxnSpPr>
        <p:spPr>
          <a:xfrm>
            <a:off x="8962760" y="5784028"/>
            <a:ext cx="0" cy="330797"/>
          </a:xfrm>
          <a:prstGeom prst="line">
            <a:avLst/>
          </a:prstGeom>
          <a:ln w="11577">
            <a:solidFill>
              <a:srgbClr val="9A95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058 rect"/>
          <p:cNvSpPr/>
          <p:nvPr/>
        </p:nvSpPr>
        <p:spPr>
          <a:xfrm>
            <a:off x="6867708" y="5526741"/>
            <a:ext cx="1323190" cy="974015"/>
          </a:xfrm>
          <a:prstGeom prst="rect">
            <a:avLst/>
          </a:prstGeom>
          <a:solidFill>
            <a:srgbClr val="FF4D00">
              <a:alpha val="3921"/>
            </a:srgbClr>
          </a:solidFill>
          <a:ln w="24809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059 line"/>
          <p:cNvCxnSpPr/>
          <p:nvPr/>
        </p:nvCxnSpPr>
        <p:spPr>
          <a:xfrm>
            <a:off x="6867708" y="5526741"/>
            <a:ext cx="1323191" cy="0"/>
          </a:xfrm>
          <a:prstGeom prst="line">
            <a:avLst/>
          </a:prstGeom>
          <a:ln w="13231">
            <a:solidFill>
              <a:srgbClr val="61666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060 text: 자모실 ≈9.5㎡"/>
          <p:cNvSpPr txBox="1"/>
          <p:nvPr/>
        </p:nvSpPr>
        <p:spPr>
          <a:xfrm>
            <a:off x="7259818" y="5897510"/>
            <a:ext cx="538970" cy="976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15" b="1">
                <a:solidFill>
                  <a:srgbClr val="111111"/>
                </a:solidFill>
              </a:rPr>
              <a:t>자모실 ≈9.5㎡</a:t>
            </a:r>
          </a:p>
        </p:txBody>
      </p:sp>
      <p:sp>
        <p:nvSpPr>
          <p:cNvPr id="64" name="061 text: (본당측 유리벽)"/>
          <p:cNvSpPr txBox="1"/>
          <p:nvPr/>
        </p:nvSpPr>
        <p:spPr>
          <a:xfrm>
            <a:off x="7287086" y="6222335"/>
            <a:ext cx="484434" cy="804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550" b="0">
                <a:solidFill>
                  <a:srgbClr val="61666D"/>
                </a:solidFill>
              </a:rPr>
              <a:t>(본당측 유리벽)</a:t>
            </a:r>
          </a:p>
        </p:txBody>
      </p:sp>
      <p:sp>
        <p:nvSpPr>
          <p:cNvPr id="65" name="062 rect"/>
          <p:cNvSpPr/>
          <p:nvPr/>
        </p:nvSpPr>
        <p:spPr>
          <a:xfrm>
            <a:off x="3449466" y="3835997"/>
            <a:ext cx="514574" cy="1396701"/>
          </a:xfrm>
          <a:prstGeom prst="rect">
            <a:avLst/>
          </a:prstGeom>
          <a:solidFill>
            <a:srgbClr val="FF4D00">
              <a:alpha val="7843"/>
            </a:srgbClr>
          </a:solidFill>
          <a:ln w="16539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063 text: 강단"/>
          <p:cNvSpPr txBox="1"/>
          <p:nvPr/>
        </p:nvSpPr>
        <p:spPr>
          <a:xfrm>
            <a:off x="3610270" y="4519186"/>
            <a:ext cx="192965" cy="976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15" b="1">
                <a:solidFill>
                  <a:srgbClr val="111111"/>
                </a:solidFill>
              </a:rPr>
              <a:t>강단</a:t>
            </a:r>
          </a:p>
        </p:txBody>
      </p:sp>
      <p:sp>
        <p:nvSpPr>
          <p:cNvPr id="67" name="064 text: 대예배실 ≈ 130㎡ (약 39평)"/>
          <p:cNvSpPr txBox="1"/>
          <p:nvPr/>
        </p:nvSpPr>
        <p:spPr>
          <a:xfrm>
            <a:off x="5192792" y="4181956"/>
            <a:ext cx="1365045" cy="1320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32" b="1">
                <a:solidFill>
                  <a:srgbClr val="111111"/>
                </a:solidFill>
              </a:rPr>
              <a:t>대예배실 ≈ 130㎡ (약 39평)</a:t>
            </a:r>
          </a:p>
        </p:txBody>
      </p:sp>
      <p:sp>
        <p:nvSpPr>
          <p:cNvPr id="68" name="065 text: + 자모실 9.5㎡ · 지붕 트러스 무주 —"/>
          <p:cNvSpPr txBox="1"/>
          <p:nvPr/>
        </p:nvSpPr>
        <p:spPr>
          <a:xfrm>
            <a:off x="5005593" y="4574319"/>
            <a:ext cx="1739444" cy="976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15" b="0">
                <a:solidFill>
                  <a:srgbClr val="61666D"/>
                </a:solidFill>
              </a:rPr>
              <a:t>+ 자모실 9.5㎡ · 지붕 트러스 무주 — 내부 기둥 0</a:t>
            </a:r>
          </a:p>
        </p:txBody>
      </p:sp>
      <p:sp>
        <p:nvSpPr>
          <p:cNvPr id="69" name="066 text: 층고 7.2m"/>
          <p:cNvSpPr txBox="1"/>
          <p:nvPr/>
        </p:nvSpPr>
        <p:spPr>
          <a:xfrm>
            <a:off x="5683935" y="4941872"/>
            <a:ext cx="382760" cy="976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15" b="0">
                <a:solidFill>
                  <a:srgbClr val="61666D"/>
                </a:solidFill>
              </a:rPr>
              <a:t>층고 7.2m</a:t>
            </a:r>
          </a:p>
        </p:txBody>
      </p:sp>
      <p:cxnSp>
        <p:nvCxnSpPr>
          <p:cNvPr id="70" name="067 line"/>
          <p:cNvCxnSpPr/>
          <p:nvPr/>
        </p:nvCxnSpPr>
        <p:spPr>
          <a:xfrm>
            <a:off x="8962760" y="4313816"/>
            <a:ext cx="0" cy="404308"/>
          </a:xfrm>
          <a:prstGeom prst="line">
            <a:avLst/>
          </a:prstGeom>
          <a:ln w="49619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068 line"/>
          <p:cNvCxnSpPr/>
          <p:nvPr/>
        </p:nvCxnSpPr>
        <p:spPr>
          <a:xfrm>
            <a:off x="8962760" y="4313816"/>
            <a:ext cx="0" cy="404308"/>
          </a:xfrm>
          <a:prstGeom prst="line">
            <a:avLst/>
          </a:prstGeom>
          <a:ln w="11577">
            <a:solidFill>
              <a:srgbClr val="9A95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069 line"/>
          <p:cNvCxnSpPr/>
          <p:nvPr/>
        </p:nvCxnSpPr>
        <p:spPr>
          <a:xfrm>
            <a:off x="8190899" y="5581874"/>
            <a:ext cx="0" cy="0"/>
          </a:xfrm>
          <a:prstGeom prst="line">
            <a:avLst/>
          </a:prstGeom>
          <a:ln w="49619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070 line"/>
          <p:cNvCxnSpPr/>
          <p:nvPr/>
        </p:nvCxnSpPr>
        <p:spPr>
          <a:xfrm>
            <a:off x="8190899" y="5581874"/>
            <a:ext cx="0" cy="0"/>
          </a:xfrm>
          <a:prstGeom prst="line">
            <a:avLst/>
          </a:prstGeom>
          <a:ln w="11577">
            <a:solidFill>
              <a:srgbClr val="9A95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320040" y="8567928"/>
            <a:ext cx="11521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F6C66"/>
                </a:solidFill>
              </a:rPr>
              <a:t>도면 축척: 1 m = 40 px (원본) · 본당 순면적 39평 vs 브리프 60평 — 건축사 미팅 1번 안건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